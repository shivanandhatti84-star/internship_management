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303" r:id="rId3"/>
    <p:sldId id="309" r:id="rId4"/>
    <p:sldId id="305" r:id="rId5"/>
    <p:sldId id="308" r:id="rId6"/>
    <p:sldId id="260" r:id="rId7"/>
    <p:sldId id="263" r:id="rId8"/>
    <p:sldId id="258" r:id="rId9"/>
    <p:sldId id="264" r:id="rId10"/>
    <p:sldId id="265" r:id="rId11"/>
    <p:sldId id="306" r:id="rId12"/>
    <p:sldId id="268" r:id="rId13"/>
    <p:sldId id="304" r:id="rId14"/>
    <p:sldId id="267" r:id="rId15"/>
    <p:sldId id="30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4B1DC4-C372-45FE-8A4C-26007EB2FF13}" v="4" dt="2026-04-02T07:03:25.77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78" d="100"/>
          <a:sy n="78" d="100"/>
        </p:scale>
        <p:origin x="835"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FFB64-3F48-FCA1-0366-6D5B9D766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9A830-0E41-8EBF-E618-494453918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DF8CEE-8FEC-5A02-EBFD-E2531530D5D4}"/>
              </a:ext>
            </a:extLst>
          </p:cNvPr>
          <p:cNvSpPr>
            <a:spLocks noGrp="1"/>
          </p:cNvSpPr>
          <p:nvPr>
            <p:ph type="body" idx="1"/>
          </p:nvPr>
        </p:nvSpPr>
        <p:spPr/>
        <p:txBody>
          <a:bodyPr/>
          <a:lstStyle/>
          <a:p>
            <a:r>
              <a:rPr lang="en-US" b="1" dirty="0"/>
              <a:t>Sprint 1 – User Authentication &amp; Basic Package Viewing</a:t>
            </a:r>
          </a:p>
          <a:p>
            <a:r>
              <a:rPr lang="en-US" b="1" dirty="0"/>
              <a:t>Duration:</a:t>
            </a:r>
            <a:r>
              <a:rPr lang="en-US" dirty="0"/>
              <a:t> 1 week (Week 1)</a:t>
            </a:r>
            <a:br>
              <a:rPr lang="en-US" dirty="0"/>
            </a:br>
            <a:r>
              <a:rPr lang="en-US" b="1" dirty="0"/>
              <a:t>Goal:</a:t>
            </a:r>
            <a:r>
              <a:rPr lang="en-US" dirty="0"/>
              <a:t> Enable user registration, login, secure session handling, and basic package browsing.</a:t>
            </a:r>
          </a:p>
          <a:p>
            <a:endParaRPr lang="en-US" dirty="0"/>
          </a:p>
        </p:txBody>
      </p:sp>
      <p:sp>
        <p:nvSpPr>
          <p:cNvPr id="4" name="Slide Number Placeholder 3">
            <a:extLst>
              <a:ext uri="{FF2B5EF4-FFF2-40B4-BE49-F238E27FC236}">
                <a16:creationId xmlns:a16="http://schemas.microsoft.com/office/drawing/2014/main" id="{68F34866-4FB6-BF35-3B00-7BCA9542224D}"/>
              </a:ext>
            </a:extLst>
          </p:cNvPr>
          <p:cNvSpPr>
            <a:spLocks noGrp="1"/>
          </p:cNvSpPr>
          <p:nvPr>
            <p:ph type="sldNum" sz="quarter" idx="5"/>
          </p:nvPr>
        </p:nvSpPr>
        <p:spPr/>
        <p:txBody>
          <a:bodyPr/>
          <a:lstStyle/>
          <a:p>
            <a:fld id="{A5797911-7873-46EF-A02B-DC428AE52371}" type="slidenum">
              <a:rPr lang="en-US" smtClean="0"/>
              <a:t>5</a:t>
            </a:fld>
            <a:endParaRPr lang="en-US"/>
          </a:p>
        </p:txBody>
      </p:sp>
    </p:spTree>
    <p:extLst>
      <p:ext uri="{BB962C8B-B14F-4D97-AF65-F5344CB8AC3E}">
        <p14:creationId xmlns:p14="http://schemas.microsoft.com/office/powerpoint/2010/main" val="1024852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Sprint 1 – User Authentication &amp; Basic Package Viewing</a:t>
            </a:r>
          </a:p>
          <a:p>
            <a:r>
              <a:rPr lang="en-US" b="1" dirty="0"/>
              <a:t>Duration:</a:t>
            </a:r>
            <a:r>
              <a:rPr lang="en-US" dirty="0"/>
              <a:t> 1 week (Week 1)</a:t>
            </a:r>
            <a:br>
              <a:rPr lang="en-US" dirty="0"/>
            </a:br>
            <a:r>
              <a:rPr lang="en-US" b="1" dirty="0"/>
              <a:t>Goal:</a:t>
            </a:r>
            <a:r>
              <a:rPr lang="en-US" dirty="0"/>
              <a:t> Enable user registration, login, secure session handling, and basic package browsing.</a:t>
            </a:r>
          </a:p>
          <a:p>
            <a:endParaRPr lang="en-US" dirty="0"/>
          </a:p>
        </p:txBody>
      </p:sp>
      <p:sp>
        <p:nvSpPr>
          <p:cNvPr id="4" name="Slide Number Placeholder 3"/>
          <p:cNvSpPr>
            <a:spLocks noGrp="1"/>
          </p:cNvSpPr>
          <p:nvPr>
            <p:ph type="sldNum" sz="quarter" idx="5"/>
          </p:nvPr>
        </p:nvSpPr>
        <p:spPr/>
        <p:txBody>
          <a:bodyPr/>
          <a:lstStyle/>
          <a:p>
            <a:fld id="{A5797911-7873-46EF-A02B-DC428AE52371}" type="slidenum">
              <a:rPr lang="en-US" smtClean="0"/>
              <a:t>12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B5725-3DF3-DBA2-3253-E07FCC3C2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320BE-3966-BC1D-AB11-779E6FB68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0921D7-D6C9-9EEF-ABB9-EDF5CC3971FF}"/>
              </a:ext>
            </a:extLst>
          </p:cNvPr>
          <p:cNvSpPr>
            <a:spLocks noGrp="1"/>
          </p:cNvSpPr>
          <p:nvPr>
            <p:ph type="body" idx="1"/>
          </p:nvPr>
        </p:nvSpPr>
        <p:spPr/>
        <p:txBody>
          <a:bodyPr/>
          <a:lstStyle/>
          <a:p>
            <a:r>
              <a:rPr lang="en-US" b="1" dirty="0"/>
              <a:t>Sprint 1 – User Authentication &amp; Basic Package Viewing</a:t>
            </a:r>
          </a:p>
          <a:p>
            <a:r>
              <a:rPr lang="en-US" b="1" dirty="0"/>
              <a:t>Duration:</a:t>
            </a:r>
            <a:r>
              <a:rPr lang="en-US" dirty="0"/>
              <a:t> 1 week (Week 1)</a:t>
            </a:r>
            <a:br>
              <a:rPr lang="en-US" dirty="0"/>
            </a:br>
            <a:r>
              <a:rPr lang="en-US" b="1" dirty="0"/>
              <a:t>Goal:</a:t>
            </a:r>
            <a:r>
              <a:rPr lang="en-US" dirty="0"/>
              <a:t> Enable user registration, login, secure session handling, and basic package browsing.</a:t>
            </a:r>
          </a:p>
          <a:p>
            <a:endParaRPr lang="en-US" dirty="0"/>
          </a:p>
        </p:txBody>
      </p:sp>
      <p:sp>
        <p:nvSpPr>
          <p:cNvPr id="4" name="Slide Number Placeholder 3">
            <a:extLst>
              <a:ext uri="{FF2B5EF4-FFF2-40B4-BE49-F238E27FC236}">
                <a16:creationId xmlns:a16="http://schemas.microsoft.com/office/drawing/2014/main" id="{BEAB7A4F-D135-4197-406F-A0D6985CA6DD}"/>
              </a:ext>
            </a:extLst>
          </p:cNvPr>
          <p:cNvSpPr>
            <a:spLocks noGrp="1"/>
          </p:cNvSpPr>
          <p:nvPr>
            <p:ph type="sldNum" sz="quarter" idx="5"/>
          </p:nvPr>
        </p:nvSpPr>
        <p:spPr/>
        <p:txBody>
          <a:bodyPr/>
          <a:lstStyle/>
          <a:p>
            <a:fld id="{A5797911-7873-46EF-A02B-DC428AE52371}" type="slidenum">
              <a:rPr lang="en-US" smtClean="0"/>
              <a:t>13</a:t>
            </a:fld>
            <a:endParaRPr lang="en-US"/>
          </a:p>
        </p:txBody>
      </p:sp>
    </p:spTree>
    <p:extLst>
      <p:ext uri="{BB962C8B-B14F-4D97-AF65-F5344CB8AC3E}">
        <p14:creationId xmlns:p14="http://schemas.microsoft.com/office/powerpoint/2010/main" val="1561256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4/22/2026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161" y="-595569"/>
            <a:ext cx="8891608" cy="1471295"/>
          </a:xfrm>
        </p:spPr>
        <p:txBody>
          <a:bodyPr>
            <a:normAutofit/>
          </a:bodyPr>
          <a:lstStyle/>
          <a:p>
            <a:pPr algn="r">
              <a:lnSpc>
                <a:spcPct val="70000"/>
              </a:lnSpc>
            </a:pPr>
            <a:r>
              <a:rPr lang="en-US" sz="4800" b="1" dirty="0">
                <a:latin typeface="Bookman Old Style" panose="02050604050505020204" pitchFamily="18" charset="0"/>
                <a:sym typeface="+mn-ea"/>
              </a:rPr>
              <a:t>Dealer Distributor System</a:t>
            </a:r>
          </a:p>
        </p:txBody>
      </p:sp>
      <p:sp>
        <p:nvSpPr>
          <p:cNvPr id="3" name="Subtitle 2"/>
          <p:cNvSpPr>
            <a:spLocks noGrp="1"/>
          </p:cNvSpPr>
          <p:nvPr>
            <p:ph type="subTitle" idx="1"/>
          </p:nvPr>
        </p:nvSpPr>
        <p:spPr>
          <a:xfrm>
            <a:off x="1309396" y="1190307"/>
            <a:ext cx="9144000" cy="3933190"/>
          </a:xfrm>
        </p:spPr>
        <p:txBody>
          <a:bodyPr/>
          <a:lstStyle/>
          <a:p>
            <a:r>
              <a:rPr lang="en-US" dirty="0">
                <a:solidFill>
                  <a:srgbClr val="000000"/>
                </a:solidFill>
                <a:latin typeface="Times New Roman" panose="02020603050405020304" charset="0"/>
                <a:ea typeface="Segoe UI" panose="020B0502040204020203"/>
                <a:cs typeface="Times New Roman" panose="02020603050405020304" charset="0"/>
                <a:sym typeface="+mn-ea"/>
              </a:rPr>
              <a:t>Sem</a:t>
            </a:r>
            <a:r>
              <a:rPr lang="en-US" dirty="0">
                <a:solidFill>
                  <a:srgbClr val="000000"/>
                </a:solidFill>
                <a:latin typeface="Bookman Old Style" panose="02050604050505020204" pitchFamily="18" charset="0"/>
                <a:ea typeface="Segoe UI" panose="020B0502040204020203"/>
                <a:cs typeface="Segoe UI" panose="020B0502040204020203"/>
                <a:sym typeface="+mn-ea"/>
              </a:rPr>
              <a:t>: 4    Div: C​      Team No: 1</a:t>
            </a:r>
            <a:endParaRPr lang="en-US" dirty="0"/>
          </a:p>
        </p:txBody>
      </p:sp>
      <p:pic>
        <p:nvPicPr>
          <p:cNvPr id="4" name="Picture 3"/>
          <p:cNvPicPr>
            <a:picLocks noChangeAspect="1"/>
          </p:cNvPicPr>
          <p:nvPr/>
        </p:nvPicPr>
        <p:blipFill>
          <a:blip r:embed="rId3"/>
          <a:stretch>
            <a:fillRect/>
          </a:stretch>
        </p:blipFill>
        <p:spPr>
          <a:xfrm>
            <a:off x="8991769" y="173679"/>
            <a:ext cx="3100070" cy="588645"/>
          </a:xfrm>
          <a:prstGeom prst="rect">
            <a:avLst/>
          </a:prstGeom>
        </p:spPr>
      </p:pic>
      <p:graphicFrame>
        <p:nvGraphicFramePr>
          <p:cNvPr id="9" name="Table 8"/>
          <p:cNvGraphicFramePr>
            <a:graphicFrameLocks noGrp="1"/>
          </p:cNvGraphicFramePr>
          <p:nvPr>
            <p:custDataLst>
              <p:tags r:id="rId1"/>
            </p:custDataLst>
            <p:extLst>
              <p:ext uri="{D42A27DB-BD31-4B8C-83A1-F6EECF244321}">
                <p14:modId xmlns:p14="http://schemas.microsoft.com/office/powerpoint/2010/main" val="2027037857"/>
              </p:ext>
            </p:extLst>
          </p:nvPr>
        </p:nvGraphicFramePr>
        <p:xfrm>
          <a:off x="1946313" y="1819469"/>
          <a:ext cx="8120380" cy="2876045"/>
        </p:xfrm>
        <a:graphic>
          <a:graphicData uri="http://schemas.openxmlformats.org/drawingml/2006/table">
            <a:tbl>
              <a:tblPr firstRow="1" bandRow="1">
                <a:tableStyleId>{5C22544A-7EE6-4342-B048-85BDC9FD1C3A}</a:tableStyleId>
              </a:tblPr>
              <a:tblGrid>
                <a:gridCol w="2712085">
                  <a:extLst>
                    <a:ext uri="{9D8B030D-6E8A-4147-A177-3AD203B41FA5}">
                      <a16:colId xmlns:a16="http://schemas.microsoft.com/office/drawing/2014/main" val="20000"/>
                    </a:ext>
                  </a:extLst>
                </a:gridCol>
                <a:gridCol w="2703830">
                  <a:extLst>
                    <a:ext uri="{9D8B030D-6E8A-4147-A177-3AD203B41FA5}">
                      <a16:colId xmlns:a16="http://schemas.microsoft.com/office/drawing/2014/main" val="20001"/>
                    </a:ext>
                  </a:extLst>
                </a:gridCol>
                <a:gridCol w="2704465">
                  <a:extLst>
                    <a:ext uri="{9D8B030D-6E8A-4147-A177-3AD203B41FA5}">
                      <a16:colId xmlns:a16="http://schemas.microsoft.com/office/drawing/2014/main" val="20002"/>
                    </a:ext>
                  </a:extLst>
                </a:gridCol>
              </a:tblGrid>
              <a:tr h="567820">
                <a:tc>
                  <a:txBody>
                    <a:bodyPr/>
                    <a:lstStyle/>
                    <a:p>
                      <a:r>
                        <a:rPr lang="en-US" dirty="0"/>
                        <a:t>Name</a:t>
                      </a:r>
                    </a:p>
                  </a:txBody>
                  <a:tcPr/>
                </a:tc>
                <a:tc>
                  <a:txBody>
                    <a:bodyPr/>
                    <a:lstStyle/>
                    <a:p>
                      <a:r>
                        <a:rPr lang="en-US" dirty="0"/>
                        <a:t>Roll No</a:t>
                      </a:r>
                    </a:p>
                  </a:txBody>
                  <a:tcPr/>
                </a:tc>
                <a:tc>
                  <a:txBody>
                    <a:bodyPr/>
                    <a:lstStyle/>
                    <a:p>
                      <a:r>
                        <a:rPr lang="en-US" dirty="0"/>
                        <a:t>USN</a:t>
                      </a:r>
                    </a:p>
                  </a:txBody>
                  <a:tcPr/>
                </a:tc>
                <a:extLst>
                  <a:ext uri="{0D108BD9-81ED-4DB2-BD59-A6C34878D82A}">
                    <a16:rowId xmlns:a16="http://schemas.microsoft.com/office/drawing/2014/main" val="10000"/>
                  </a:ext>
                </a:extLst>
              </a:tr>
              <a:tr h="461645">
                <a:tc>
                  <a:txBody>
                    <a:bodyPr/>
                    <a:lstStyle/>
                    <a:p>
                      <a:r>
                        <a:rPr lang="en-US" dirty="0"/>
                        <a:t>Pruthvi M</a:t>
                      </a:r>
                    </a:p>
                  </a:txBody>
                  <a:tcPr/>
                </a:tc>
                <a:tc>
                  <a:txBody>
                    <a:bodyPr/>
                    <a:lstStyle/>
                    <a:p>
                      <a:r>
                        <a:rPr lang="en-US" dirty="0"/>
                        <a:t>312</a:t>
                      </a:r>
                    </a:p>
                  </a:txBody>
                  <a:tcPr/>
                </a:tc>
                <a:tc>
                  <a:txBody>
                    <a:bodyPr/>
                    <a:lstStyle/>
                    <a:p>
                      <a:r>
                        <a:rPr lang="en-US" dirty="0"/>
                        <a:t>01FE24BCS070</a:t>
                      </a:r>
                    </a:p>
                  </a:txBody>
                  <a:tcPr/>
                </a:tc>
                <a:extLst>
                  <a:ext uri="{0D108BD9-81ED-4DB2-BD59-A6C34878D82A}">
                    <a16:rowId xmlns:a16="http://schemas.microsoft.com/office/drawing/2014/main" val="10001"/>
                  </a:ext>
                </a:extLst>
              </a:tr>
              <a:tr h="461645">
                <a:tc>
                  <a:txBody>
                    <a:bodyPr/>
                    <a:lstStyle/>
                    <a:p>
                      <a:r>
                        <a:rPr lang="en-US" dirty="0"/>
                        <a:t>Kempanna K</a:t>
                      </a:r>
                    </a:p>
                  </a:txBody>
                  <a:tcPr/>
                </a:tc>
                <a:tc>
                  <a:txBody>
                    <a:bodyPr/>
                    <a:lstStyle/>
                    <a:p>
                      <a:r>
                        <a:rPr lang="en-US" dirty="0"/>
                        <a:t>327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01FE24BCS163</a:t>
                      </a:r>
                    </a:p>
                  </a:txBody>
                  <a:tcPr/>
                </a:tc>
                <a:extLst>
                  <a:ext uri="{0D108BD9-81ED-4DB2-BD59-A6C34878D82A}">
                    <a16:rowId xmlns:a16="http://schemas.microsoft.com/office/drawing/2014/main" val="10002"/>
                  </a:ext>
                </a:extLst>
              </a:tr>
              <a:tr h="461645">
                <a:tc>
                  <a:txBody>
                    <a:bodyPr/>
                    <a:lstStyle/>
                    <a:p>
                      <a:r>
                        <a:rPr lang="en-US" dirty="0"/>
                        <a:t>Nivrutti</a:t>
                      </a:r>
                    </a:p>
                  </a:txBody>
                  <a:tcPr/>
                </a:tc>
                <a:tc>
                  <a:txBody>
                    <a:bodyPr/>
                    <a:lstStyle/>
                    <a:p>
                      <a:r>
                        <a:rPr lang="en-US" dirty="0"/>
                        <a:t>332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01FE24BCS168</a:t>
                      </a:r>
                    </a:p>
                  </a:txBody>
                  <a:tcPr/>
                </a:tc>
                <a:extLst>
                  <a:ext uri="{0D108BD9-81ED-4DB2-BD59-A6C34878D82A}">
                    <a16:rowId xmlns:a16="http://schemas.microsoft.com/office/drawing/2014/main" val="10003"/>
                  </a:ext>
                </a:extLst>
              </a:tr>
              <a:tr h="461645">
                <a:tc>
                  <a:txBody>
                    <a:bodyPr/>
                    <a:lstStyle/>
                    <a:p>
                      <a:r>
                        <a:rPr lang="en-US" dirty="0"/>
                        <a:t>Bhagyashri B</a:t>
                      </a:r>
                    </a:p>
                  </a:txBody>
                  <a:tcPr/>
                </a:tc>
                <a:tc>
                  <a:txBody>
                    <a:bodyPr/>
                    <a:lstStyle/>
                    <a:p>
                      <a:r>
                        <a:rPr lang="en-US" dirty="0"/>
                        <a:t>334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01FE24BCS170</a:t>
                      </a:r>
                    </a:p>
                  </a:txBody>
                  <a:tcPr/>
                </a:tc>
                <a:extLst>
                  <a:ext uri="{0D108BD9-81ED-4DB2-BD59-A6C34878D82A}">
                    <a16:rowId xmlns:a16="http://schemas.microsoft.com/office/drawing/2014/main" val="10004"/>
                  </a:ext>
                </a:extLst>
              </a:tr>
              <a:tr h="461645">
                <a:tc>
                  <a:txBody>
                    <a:bodyPr/>
                    <a:lstStyle/>
                    <a:p>
                      <a:r>
                        <a:rPr lang="en-US" dirty="0"/>
                        <a:t>Shreya P</a:t>
                      </a:r>
                    </a:p>
                  </a:txBody>
                  <a:tcPr/>
                </a:tc>
                <a:tc>
                  <a:txBody>
                    <a:bodyPr/>
                    <a:lstStyle/>
                    <a:p>
                      <a:r>
                        <a:rPr lang="en-US" dirty="0"/>
                        <a:t>335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01FE24BCS171</a:t>
                      </a:r>
                    </a:p>
                  </a:txBody>
                  <a:tcPr/>
                </a:tc>
                <a:extLst>
                  <a:ext uri="{0D108BD9-81ED-4DB2-BD59-A6C34878D82A}">
                    <a16:rowId xmlns:a16="http://schemas.microsoft.com/office/drawing/2014/main" val="10005"/>
                  </a:ext>
                </a:extLst>
              </a:tr>
            </a:tbl>
          </a:graphicData>
        </a:graphic>
      </p:graphicFrame>
      <p:sp>
        <p:nvSpPr>
          <p:cNvPr id="5" name="Text Box 4"/>
          <p:cNvSpPr txBox="1"/>
          <p:nvPr/>
        </p:nvSpPr>
        <p:spPr>
          <a:xfrm>
            <a:off x="1721744" y="5186239"/>
            <a:ext cx="9571990" cy="1132840"/>
          </a:xfrm>
          <a:prstGeom prst="rect">
            <a:avLst/>
          </a:prstGeom>
          <a:noFill/>
        </p:spPr>
        <p:txBody>
          <a:bodyPr wrap="square" rtlCol="0" anchor="t">
            <a:noAutofit/>
          </a:bodyPr>
          <a:lstStyle/>
          <a:p>
            <a:pPr algn="just"/>
            <a:r>
              <a:rPr lang="en-US" sz="2400" dirty="0">
                <a:latin typeface="Bookman Old Style" panose="02050604050505020204" pitchFamily="18" charset="0"/>
                <a:ea typeface="Calibri" panose="020F0502020204030204"/>
                <a:cs typeface="Bookman Old Style" panose="02050604050505020204" pitchFamily="18" charset="0"/>
                <a:sym typeface="+mn-ea"/>
              </a:rPr>
              <a:t>Under the guidance of    :   Dr. P G Sunitha Hiremath   &amp;</a:t>
            </a:r>
          </a:p>
          <a:p>
            <a:pPr marL="2286000" lvl="5" indent="457200" algn="just"/>
            <a:r>
              <a:rPr lang="en-US" sz="2400" dirty="0">
                <a:latin typeface="Bookman Old Style" panose="02050604050505020204" pitchFamily="18" charset="0"/>
                <a:ea typeface="Calibri" panose="020F0502020204030204"/>
                <a:cs typeface="Bookman Old Style" panose="02050604050505020204" pitchFamily="18" charset="0"/>
                <a:sym typeface="+mn-ea"/>
              </a:rPr>
              <a:t>              Prof. Soundarya B 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39E5A-2B8B-709F-D60D-0EF677582E1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B28A065-370B-83FE-0F91-26E7D97B1BB4}"/>
              </a:ext>
            </a:extLst>
          </p:cNvPr>
          <p:cNvPicPr>
            <a:picLocks noChangeAspect="1"/>
          </p:cNvPicPr>
          <p:nvPr/>
        </p:nvPicPr>
        <p:blipFill>
          <a:blip r:embed="rId2"/>
          <a:stretch>
            <a:fillRect/>
          </a:stretch>
        </p:blipFill>
        <p:spPr>
          <a:xfrm>
            <a:off x="9651458" y="49160"/>
            <a:ext cx="2468850" cy="592524"/>
          </a:xfrm>
          <a:prstGeom prst="rect">
            <a:avLst/>
          </a:prstGeom>
        </p:spPr>
      </p:pic>
      <p:sp>
        <p:nvSpPr>
          <p:cNvPr id="5" name="TextBox 4">
            <a:extLst>
              <a:ext uri="{FF2B5EF4-FFF2-40B4-BE49-F238E27FC236}">
                <a16:creationId xmlns:a16="http://schemas.microsoft.com/office/drawing/2014/main" id="{C8D60945-0C13-8574-E39A-1A70F723899F}"/>
              </a:ext>
            </a:extLst>
          </p:cNvPr>
          <p:cNvSpPr txBox="1"/>
          <p:nvPr/>
        </p:nvSpPr>
        <p:spPr>
          <a:xfrm>
            <a:off x="1138334" y="-70077"/>
            <a:ext cx="8029959" cy="830997"/>
          </a:xfrm>
          <a:prstGeom prst="rect">
            <a:avLst/>
          </a:prstGeom>
          <a:noFill/>
        </p:spPr>
        <p:txBody>
          <a:bodyPr wrap="square" rtlCol="0">
            <a:spAutoFit/>
          </a:bodyPr>
          <a:lstStyle/>
          <a:p>
            <a:r>
              <a:rPr lang="en-US" sz="4800" b="1" dirty="0">
                <a:latin typeface="Bookman Old Style" panose="02050604050505020204" pitchFamily="18" charset="0"/>
              </a:rPr>
              <a:t>Table of Contents</a:t>
            </a:r>
          </a:p>
        </p:txBody>
      </p:sp>
      <p:graphicFrame>
        <p:nvGraphicFramePr>
          <p:cNvPr id="9" name="Table 8">
            <a:extLst>
              <a:ext uri="{FF2B5EF4-FFF2-40B4-BE49-F238E27FC236}">
                <a16:creationId xmlns:a16="http://schemas.microsoft.com/office/drawing/2014/main" id="{9BDE19E9-21CF-E640-4611-94B4E789E38E}"/>
              </a:ext>
            </a:extLst>
          </p:cNvPr>
          <p:cNvGraphicFramePr>
            <a:graphicFrameLocks noGrp="1"/>
          </p:cNvGraphicFramePr>
          <p:nvPr>
            <p:extLst>
              <p:ext uri="{D42A27DB-BD31-4B8C-83A1-F6EECF244321}">
                <p14:modId xmlns:p14="http://schemas.microsoft.com/office/powerpoint/2010/main" val="1494654628"/>
              </p:ext>
            </p:extLst>
          </p:nvPr>
        </p:nvGraphicFramePr>
        <p:xfrm>
          <a:off x="1253620" y="865204"/>
          <a:ext cx="6772335" cy="5469358"/>
        </p:xfrm>
        <a:graphic>
          <a:graphicData uri="http://schemas.openxmlformats.org/drawingml/2006/table">
            <a:tbl>
              <a:tblPr firstRow="1" bandRow="1">
                <a:tableStyleId>{5C22544A-7EE6-4342-B048-85BDC9FD1C3A}</a:tableStyleId>
              </a:tblPr>
              <a:tblGrid>
                <a:gridCol w="3212275">
                  <a:extLst>
                    <a:ext uri="{9D8B030D-6E8A-4147-A177-3AD203B41FA5}">
                      <a16:colId xmlns:a16="http://schemas.microsoft.com/office/drawing/2014/main" val="3553549619"/>
                    </a:ext>
                  </a:extLst>
                </a:gridCol>
                <a:gridCol w="3560060">
                  <a:extLst>
                    <a:ext uri="{9D8B030D-6E8A-4147-A177-3AD203B41FA5}">
                      <a16:colId xmlns:a16="http://schemas.microsoft.com/office/drawing/2014/main" val="2699171521"/>
                    </a:ext>
                  </a:extLst>
                </a:gridCol>
              </a:tblGrid>
              <a:tr h="416993">
                <a:tc>
                  <a:txBody>
                    <a:bodyPr/>
                    <a:lstStyle/>
                    <a:p>
                      <a:r>
                        <a:rPr lang="en-US" dirty="0"/>
                        <a:t>Title</a:t>
                      </a:r>
                    </a:p>
                  </a:txBody>
                  <a:tcPr/>
                </a:tc>
                <a:tc>
                  <a:txBody>
                    <a:bodyPr/>
                    <a:lstStyle/>
                    <a:p>
                      <a:r>
                        <a:rPr lang="en-US" dirty="0"/>
                        <a:t>Page No.</a:t>
                      </a:r>
                    </a:p>
                  </a:txBody>
                  <a:tcPr/>
                </a:tc>
                <a:extLst>
                  <a:ext uri="{0D108BD9-81ED-4DB2-BD59-A6C34878D82A}">
                    <a16:rowId xmlns:a16="http://schemas.microsoft.com/office/drawing/2014/main" val="2593240178"/>
                  </a:ext>
                </a:extLst>
              </a:tr>
              <a:tr h="416399">
                <a:tc>
                  <a:txBody>
                    <a:bodyPr/>
                    <a:lstStyle/>
                    <a:p>
                      <a:r>
                        <a:rPr lang="en-US" dirty="0"/>
                        <a:t>Introduction</a:t>
                      </a:r>
                    </a:p>
                  </a:txBody>
                  <a:tcPr/>
                </a:tc>
                <a:tc>
                  <a:txBody>
                    <a:bodyPr/>
                    <a:lstStyle/>
                    <a:p>
                      <a:r>
                        <a:rPr lang="en-US" dirty="0"/>
                        <a:t>3</a:t>
                      </a:r>
                    </a:p>
                  </a:txBody>
                  <a:tcPr/>
                </a:tc>
                <a:extLst>
                  <a:ext uri="{0D108BD9-81ED-4DB2-BD59-A6C34878D82A}">
                    <a16:rowId xmlns:a16="http://schemas.microsoft.com/office/drawing/2014/main" val="1084970515"/>
                  </a:ext>
                </a:extLst>
              </a:tr>
              <a:tr h="416399">
                <a:tc>
                  <a:txBody>
                    <a:bodyPr/>
                    <a:lstStyle/>
                    <a:p>
                      <a:r>
                        <a:rPr lang="en-US" dirty="0"/>
                        <a:t>Problem Statement</a:t>
                      </a:r>
                    </a:p>
                  </a:txBody>
                  <a:tcPr/>
                </a:tc>
                <a:tc>
                  <a:txBody>
                    <a:bodyPr/>
                    <a:lstStyle/>
                    <a:p>
                      <a:r>
                        <a:rPr lang="en-US" dirty="0"/>
                        <a:t>4</a:t>
                      </a:r>
                    </a:p>
                  </a:txBody>
                  <a:tcPr/>
                </a:tc>
                <a:extLst>
                  <a:ext uri="{0D108BD9-81ED-4DB2-BD59-A6C34878D82A}">
                    <a16:rowId xmlns:a16="http://schemas.microsoft.com/office/drawing/2014/main" val="1911598752"/>
                  </a:ext>
                </a:extLst>
              </a:tr>
              <a:tr h="416399">
                <a:tc>
                  <a:txBody>
                    <a:bodyPr/>
                    <a:lstStyle/>
                    <a:p>
                      <a:r>
                        <a:rPr lang="en-US" dirty="0"/>
                        <a:t>Existing Websites</a:t>
                      </a:r>
                    </a:p>
                  </a:txBody>
                  <a:tcPr/>
                </a:tc>
                <a:tc>
                  <a:txBody>
                    <a:bodyPr/>
                    <a:lstStyle/>
                    <a:p>
                      <a:r>
                        <a:rPr lang="en-US" dirty="0"/>
                        <a:t>5</a:t>
                      </a:r>
                    </a:p>
                  </a:txBody>
                  <a:tcPr/>
                </a:tc>
                <a:extLst>
                  <a:ext uri="{0D108BD9-81ED-4DB2-BD59-A6C34878D82A}">
                    <a16:rowId xmlns:a16="http://schemas.microsoft.com/office/drawing/2014/main" val="4269794621"/>
                  </a:ext>
                </a:extLst>
              </a:tr>
              <a:tr h="441013">
                <a:tc>
                  <a:txBody>
                    <a:bodyPr/>
                    <a:lstStyle/>
                    <a:p>
                      <a:r>
                        <a:rPr lang="en-US" dirty="0"/>
                        <a:t>Block Diagram </a:t>
                      </a:r>
                    </a:p>
                  </a:txBody>
                  <a:tcPr/>
                </a:tc>
                <a:tc>
                  <a:txBody>
                    <a:bodyPr/>
                    <a:lstStyle/>
                    <a:p>
                      <a:r>
                        <a:rPr lang="en-US" dirty="0"/>
                        <a:t>6</a:t>
                      </a:r>
                    </a:p>
                  </a:txBody>
                  <a:tcPr/>
                </a:tc>
                <a:extLst>
                  <a:ext uri="{0D108BD9-81ED-4DB2-BD59-A6C34878D82A}">
                    <a16:rowId xmlns:a16="http://schemas.microsoft.com/office/drawing/2014/main" val="3800579039"/>
                  </a:ext>
                </a:extLst>
              </a:tr>
              <a:tr h="416399">
                <a:tc>
                  <a:txBody>
                    <a:bodyPr/>
                    <a:lstStyle/>
                    <a:p>
                      <a:r>
                        <a:rPr lang="en-US" dirty="0"/>
                        <a:t>Functional Requirements</a:t>
                      </a:r>
                    </a:p>
                  </a:txBody>
                  <a:tcPr/>
                </a:tc>
                <a:tc>
                  <a:txBody>
                    <a:bodyPr/>
                    <a:lstStyle/>
                    <a:p>
                      <a:r>
                        <a:rPr lang="en-US" dirty="0"/>
                        <a:t>7</a:t>
                      </a:r>
                    </a:p>
                  </a:txBody>
                  <a:tcPr/>
                </a:tc>
                <a:extLst>
                  <a:ext uri="{0D108BD9-81ED-4DB2-BD59-A6C34878D82A}">
                    <a16:rowId xmlns:a16="http://schemas.microsoft.com/office/drawing/2014/main" val="3743558752"/>
                  </a:ext>
                </a:extLst>
              </a:tr>
              <a:tr h="416399">
                <a:tc>
                  <a:txBody>
                    <a:bodyPr/>
                    <a:lstStyle/>
                    <a:p>
                      <a:r>
                        <a:rPr lang="en-US" dirty="0"/>
                        <a:t>Non-Functional Requirements</a:t>
                      </a:r>
                    </a:p>
                  </a:txBody>
                  <a:tcPr/>
                </a:tc>
                <a:tc>
                  <a:txBody>
                    <a:bodyPr/>
                    <a:lstStyle/>
                    <a:p>
                      <a:r>
                        <a:rPr lang="en-US" dirty="0"/>
                        <a:t>10</a:t>
                      </a:r>
                    </a:p>
                  </a:txBody>
                  <a:tcPr/>
                </a:tc>
                <a:extLst>
                  <a:ext uri="{0D108BD9-81ED-4DB2-BD59-A6C34878D82A}">
                    <a16:rowId xmlns:a16="http://schemas.microsoft.com/office/drawing/2014/main" val="3519468523"/>
                  </a:ext>
                </a:extLst>
              </a:tr>
              <a:tr h="416399">
                <a:tc>
                  <a:txBody>
                    <a:bodyPr/>
                    <a:lstStyle/>
                    <a:p>
                      <a:r>
                        <a:rPr lang="en-US" dirty="0"/>
                        <a:t>Scrum Roles</a:t>
                      </a:r>
                    </a:p>
                  </a:txBody>
                  <a:tcPr/>
                </a:tc>
                <a:tc>
                  <a:txBody>
                    <a:bodyPr/>
                    <a:lstStyle/>
                    <a:p>
                      <a:r>
                        <a:rPr lang="en-US" dirty="0"/>
                        <a:t>11</a:t>
                      </a:r>
                    </a:p>
                  </a:txBody>
                  <a:tcPr/>
                </a:tc>
                <a:extLst>
                  <a:ext uri="{0D108BD9-81ED-4DB2-BD59-A6C34878D82A}">
                    <a16:rowId xmlns:a16="http://schemas.microsoft.com/office/drawing/2014/main" val="3556381024"/>
                  </a:ext>
                </a:extLst>
              </a:tr>
              <a:tr h="416399">
                <a:tc>
                  <a:txBody>
                    <a:bodyPr/>
                    <a:lstStyle/>
                    <a:p>
                      <a:r>
                        <a:rPr lang="en-US" dirty="0"/>
                        <a:t>Sprint Planning and User Stories</a:t>
                      </a:r>
                    </a:p>
                  </a:txBody>
                  <a:tcPr/>
                </a:tc>
                <a:tc>
                  <a:txBody>
                    <a:bodyPr/>
                    <a:lstStyle/>
                    <a:p>
                      <a:r>
                        <a:rPr lang="en-US" dirty="0"/>
                        <a:t>12</a:t>
                      </a:r>
                    </a:p>
                  </a:txBody>
                  <a:tcPr/>
                </a:tc>
                <a:extLst>
                  <a:ext uri="{0D108BD9-81ED-4DB2-BD59-A6C34878D82A}">
                    <a16:rowId xmlns:a16="http://schemas.microsoft.com/office/drawing/2014/main" val="2793454139"/>
                  </a:ext>
                </a:extLst>
              </a:tr>
              <a:tr h="416399">
                <a:tc>
                  <a:txBody>
                    <a:bodyPr/>
                    <a:lstStyle/>
                    <a:p>
                      <a:r>
                        <a:rPr lang="en-US" dirty="0"/>
                        <a:t>Scrum Table</a:t>
                      </a:r>
                    </a:p>
                  </a:txBody>
                  <a:tcPr/>
                </a:tc>
                <a:tc>
                  <a:txBody>
                    <a:bodyPr/>
                    <a:lstStyle/>
                    <a:p>
                      <a:r>
                        <a:rPr lang="en-US" dirty="0"/>
                        <a:t>13</a:t>
                      </a:r>
                    </a:p>
                  </a:txBody>
                  <a:tcPr/>
                </a:tc>
                <a:extLst>
                  <a:ext uri="{0D108BD9-81ED-4DB2-BD59-A6C34878D82A}">
                    <a16:rowId xmlns:a16="http://schemas.microsoft.com/office/drawing/2014/main" val="4034150775"/>
                  </a:ext>
                </a:extLst>
              </a:tr>
              <a:tr h="4163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Sustainable Development Goals</a:t>
                      </a:r>
                    </a:p>
                    <a:p>
                      <a:endParaRPr lang="en-US" dirty="0"/>
                    </a:p>
                  </a:txBody>
                  <a:tcPr/>
                </a:tc>
                <a:tc>
                  <a:txBody>
                    <a:bodyPr/>
                    <a:lstStyle/>
                    <a:p>
                      <a:r>
                        <a:rPr lang="en-US" dirty="0"/>
                        <a:t>14</a:t>
                      </a:r>
                    </a:p>
                  </a:txBody>
                  <a:tcPr/>
                </a:tc>
                <a:extLst>
                  <a:ext uri="{0D108BD9-81ED-4DB2-BD59-A6C34878D82A}">
                    <a16:rowId xmlns:a16="http://schemas.microsoft.com/office/drawing/2014/main" val="3725653148"/>
                  </a:ext>
                </a:extLst>
              </a:tr>
              <a:tr h="4163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Home Page and Layout Design</a:t>
                      </a:r>
                    </a:p>
                    <a:p>
                      <a:endParaRPr lang="en-US" dirty="0"/>
                    </a:p>
                  </a:txBody>
                  <a:tcPr/>
                </a:tc>
                <a:tc>
                  <a:txBody>
                    <a:bodyPr/>
                    <a:lstStyle/>
                    <a:p>
                      <a:r>
                        <a:rPr lang="en-US"/>
                        <a:t>15</a:t>
                      </a:r>
                      <a:endParaRPr lang="en-US" dirty="0"/>
                    </a:p>
                  </a:txBody>
                  <a:tcPr/>
                </a:tc>
                <a:extLst>
                  <a:ext uri="{0D108BD9-81ED-4DB2-BD59-A6C34878D82A}">
                    <a16:rowId xmlns:a16="http://schemas.microsoft.com/office/drawing/2014/main" val="978912205"/>
                  </a:ext>
                </a:extLst>
              </a:tr>
            </a:tbl>
          </a:graphicData>
        </a:graphic>
      </p:graphicFrame>
    </p:spTree>
    <p:extLst>
      <p:ext uri="{BB962C8B-B14F-4D97-AF65-F5344CB8AC3E}">
        <p14:creationId xmlns:p14="http://schemas.microsoft.com/office/powerpoint/2010/main" val="1162633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49F3-FE2F-AED0-FEED-910A7EE86E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F6E0B-653E-12BC-1748-08496A7C505C}"/>
              </a:ext>
            </a:extLst>
          </p:cNvPr>
          <p:cNvSpPr>
            <a:spLocks noGrp="1"/>
          </p:cNvSpPr>
          <p:nvPr>
            <p:ph type="title"/>
          </p:nvPr>
        </p:nvSpPr>
        <p:spPr>
          <a:xfrm>
            <a:off x="711200" y="0"/>
            <a:ext cx="10933446" cy="985679"/>
          </a:xfrm>
          <a:solidFill>
            <a:schemeClr val="bg1"/>
          </a:solidFill>
        </p:spPr>
        <p:txBody>
          <a:bodyPr>
            <a:normAutofit/>
          </a:bodyPr>
          <a:lstStyle/>
          <a:p>
            <a:r>
              <a:rPr lang="en-US" sz="4000" b="1" dirty="0">
                <a:latin typeface="Bookman Old Style" panose="02050604050505020204" pitchFamily="18" charset="0"/>
              </a:rPr>
              <a:t> Introduction </a:t>
            </a:r>
          </a:p>
        </p:txBody>
      </p:sp>
      <p:sp>
        <p:nvSpPr>
          <p:cNvPr id="3" name="Content Placeholder 2">
            <a:extLst>
              <a:ext uri="{FF2B5EF4-FFF2-40B4-BE49-F238E27FC236}">
                <a16:creationId xmlns:a16="http://schemas.microsoft.com/office/drawing/2014/main" id="{2C3CD395-AB97-7D6C-8CFC-7DB1D18F5CC9}"/>
              </a:ext>
            </a:extLst>
          </p:cNvPr>
          <p:cNvSpPr>
            <a:spLocks noGrp="1"/>
          </p:cNvSpPr>
          <p:nvPr>
            <p:ph idx="1"/>
          </p:nvPr>
        </p:nvSpPr>
        <p:spPr>
          <a:xfrm>
            <a:off x="867747" y="886234"/>
            <a:ext cx="11114641" cy="4671285"/>
          </a:xfrm>
        </p:spPr>
        <p:txBody>
          <a:bodyPr vert="horz" lIns="91440" tIns="45720" rIns="91440" bIns="45720" rtlCol="0" anchor="t">
            <a:noAutofit/>
          </a:bodyPr>
          <a:lstStyle/>
          <a:p>
            <a:pPr marL="0" indent="0">
              <a:buNone/>
            </a:pPr>
            <a:r>
              <a:rPr lang="en-US" sz="2400" dirty="0">
                <a:latin typeface="Bookman Old Style" panose="02050604050505020204" pitchFamily="18" charset="0"/>
              </a:rPr>
              <a:t>Nowadays, most businesses are going digital, but in the plumbing and construction field, many distributors and dealers still depend on phone calls to manage orders and product details. Because of this, the process becomes slow, confusing, and sometimes leads to mistakes.</a:t>
            </a:r>
          </a:p>
          <a:p>
            <a:pPr marL="0" indent="0">
              <a:buNone/>
            </a:pPr>
            <a:r>
              <a:rPr lang="en-US" sz="2400" dirty="0">
                <a:latin typeface="Bookman Old Style" panose="02050604050505020204" pitchFamily="18" charset="0"/>
              </a:rPr>
              <a:t>Dealers often struggle to check products or place orders quickly, and delivery agencies have to depend on updates from distributors, which makes things even less efficient.</a:t>
            </a:r>
          </a:p>
          <a:p>
            <a:pPr marL="0" indent="0">
              <a:buNone/>
            </a:pPr>
            <a:r>
              <a:rPr lang="en-US" sz="2400" dirty="0">
                <a:latin typeface="Bookman Old Style" panose="02050604050505020204" pitchFamily="18" charset="0"/>
              </a:rPr>
              <a:t>To improve this, this project introduces a web-based system where distributors, dealers, and delivery agencies can work together on one platform. It makes it easier to manage products, place orders, and track deliveries, helping save time and making the whole process smoother and more organized.</a:t>
            </a:r>
          </a:p>
        </p:txBody>
      </p:sp>
      <p:pic>
        <p:nvPicPr>
          <p:cNvPr id="5" name="Picture 4" descr="kle logo.png">
            <a:extLst>
              <a:ext uri="{FF2B5EF4-FFF2-40B4-BE49-F238E27FC236}">
                <a16:creationId xmlns:a16="http://schemas.microsoft.com/office/drawing/2014/main" id="{F6C6DE99-4ACA-DBAC-04CB-11D0D469FBE8}"/>
              </a:ext>
            </a:extLst>
          </p:cNvPr>
          <p:cNvPicPr>
            <a:picLocks noChangeAspect="1"/>
          </p:cNvPicPr>
          <p:nvPr/>
        </p:nvPicPr>
        <p:blipFill>
          <a:blip r:embed="rId2"/>
          <a:stretch>
            <a:fillRect/>
          </a:stretch>
        </p:blipFill>
        <p:spPr>
          <a:xfrm>
            <a:off x="9546464" y="169439"/>
            <a:ext cx="2502425" cy="600582"/>
          </a:xfrm>
          <a:prstGeom prst="rect">
            <a:avLst/>
          </a:prstGeom>
        </p:spPr>
      </p:pic>
    </p:spTree>
    <p:extLst>
      <p:ext uri="{BB962C8B-B14F-4D97-AF65-F5344CB8AC3E}">
        <p14:creationId xmlns:p14="http://schemas.microsoft.com/office/powerpoint/2010/main" val="1729779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F1313-E754-24A2-D976-60D370E888FB}"/>
              </a:ext>
            </a:extLst>
          </p:cNvPr>
          <p:cNvSpPr>
            <a:spLocks noGrp="1"/>
          </p:cNvSpPr>
          <p:nvPr>
            <p:ph type="title"/>
          </p:nvPr>
        </p:nvSpPr>
        <p:spPr>
          <a:xfrm>
            <a:off x="143111" y="0"/>
            <a:ext cx="11501535" cy="985679"/>
          </a:xfrm>
          <a:solidFill>
            <a:schemeClr val="bg1"/>
          </a:solidFill>
        </p:spPr>
        <p:txBody>
          <a:bodyPr>
            <a:normAutofit/>
          </a:bodyPr>
          <a:lstStyle/>
          <a:p>
            <a:r>
              <a:rPr lang="en-US" sz="4000" b="1" dirty="0">
                <a:latin typeface="Bookman Old Style" panose="02050604050505020204" pitchFamily="18" charset="0"/>
              </a:rPr>
              <a:t>    Problem Statement</a:t>
            </a:r>
          </a:p>
        </p:txBody>
      </p:sp>
      <p:sp>
        <p:nvSpPr>
          <p:cNvPr id="3" name="Content Placeholder 2">
            <a:extLst>
              <a:ext uri="{FF2B5EF4-FFF2-40B4-BE49-F238E27FC236}">
                <a16:creationId xmlns:a16="http://schemas.microsoft.com/office/drawing/2014/main" id="{6C403222-0ED5-BA1C-C922-1267890E76F3}"/>
              </a:ext>
            </a:extLst>
          </p:cNvPr>
          <p:cNvSpPr>
            <a:spLocks noGrp="1"/>
          </p:cNvSpPr>
          <p:nvPr>
            <p:ph idx="1"/>
          </p:nvPr>
        </p:nvSpPr>
        <p:spPr>
          <a:xfrm>
            <a:off x="867747" y="886235"/>
            <a:ext cx="11114641" cy="1775685"/>
          </a:xfrm>
        </p:spPr>
        <p:txBody>
          <a:bodyPr vert="horz" lIns="91440" tIns="45720" rIns="91440" bIns="45720" rtlCol="0" anchor="t">
            <a:noAutofit/>
          </a:bodyPr>
          <a:lstStyle/>
          <a:p>
            <a:pPr marL="0" indent="0">
              <a:buNone/>
            </a:pPr>
            <a:r>
              <a:rPr lang="en-US" sz="2400" dirty="0">
                <a:latin typeface="Bookman Old Style" panose="02050604050505020204" pitchFamily="18" charset="0"/>
              </a:rPr>
              <a:t>Design and develop a web-based system that helps distributors, dealers, and delivery agencies easily manage products, handle orders, and coordinate deliveries on one simple platform.</a:t>
            </a:r>
          </a:p>
        </p:txBody>
      </p:sp>
      <p:pic>
        <p:nvPicPr>
          <p:cNvPr id="5" name="Picture 4" descr="kle logo.png">
            <a:extLst>
              <a:ext uri="{FF2B5EF4-FFF2-40B4-BE49-F238E27FC236}">
                <a16:creationId xmlns:a16="http://schemas.microsoft.com/office/drawing/2014/main" id="{E341609F-3042-F916-378C-8D8729F56AE9}"/>
              </a:ext>
            </a:extLst>
          </p:cNvPr>
          <p:cNvPicPr>
            <a:picLocks noChangeAspect="1"/>
          </p:cNvPicPr>
          <p:nvPr/>
        </p:nvPicPr>
        <p:blipFill>
          <a:blip r:embed="rId2"/>
          <a:stretch>
            <a:fillRect/>
          </a:stretch>
        </p:blipFill>
        <p:spPr>
          <a:xfrm>
            <a:off x="9546464" y="169439"/>
            <a:ext cx="2502425" cy="600582"/>
          </a:xfrm>
          <a:prstGeom prst="rect">
            <a:avLst/>
          </a:prstGeom>
        </p:spPr>
      </p:pic>
      <p:sp>
        <p:nvSpPr>
          <p:cNvPr id="4" name="TextBox 3">
            <a:extLst>
              <a:ext uri="{FF2B5EF4-FFF2-40B4-BE49-F238E27FC236}">
                <a16:creationId xmlns:a16="http://schemas.microsoft.com/office/drawing/2014/main" id="{C5F14438-C55D-DEBA-1524-6F3FBFD8CFA2}"/>
              </a:ext>
            </a:extLst>
          </p:cNvPr>
          <p:cNvSpPr txBox="1"/>
          <p:nvPr/>
        </p:nvSpPr>
        <p:spPr>
          <a:xfrm>
            <a:off x="786467" y="2970944"/>
            <a:ext cx="11038114" cy="3000821"/>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t>To create a web platform where distributors can easily display and manage their products.</a:t>
            </a:r>
          </a:p>
          <a:p>
            <a:pPr marL="342900" indent="-342900">
              <a:buFont typeface="Wingdings" panose="05000000000000000000" pitchFamily="2" charset="2"/>
              <a:buChar char="Ø"/>
            </a:pPr>
            <a:r>
              <a:rPr lang="en-US" sz="2400" dirty="0"/>
              <a:t>To help dealers quickly search for products and place orders without confusion.</a:t>
            </a:r>
          </a:p>
          <a:p>
            <a:pPr marL="342900" indent="-342900">
              <a:buFont typeface="Wingdings" panose="05000000000000000000" pitchFamily="2" charset="2"/>
              <a:buChar char="Ø"/>
            </a:pPr>
            <a:r>
              <a:rPr lang="en-US" sz="2400" dirty="0"/>
              <a:t>To make it easier for travel agencies to handle and track deliveries.</a:t>
            </a:r>
          </a:p>
          <a:p>
            <a:pPr marL="342900" indent="-342900">
              <a:buFont typeface="Wingdings" panose="05000000000000000000" pitchFamily="2" charset="2"/>
              <a:buChar char="Ø"/>
            </a:pPr>
            <a:r>
              <a:rPr lang="en-US" sz="2400" dirty="0"/>
              <a:t>To reduce dependency on phone calls and manual communication.</a:t>
            </a:r>
          </a:p>
          <a:p>
            <a:pPr marL="342900" indent="-342900">
              <a:buFont typeface="Wingdings" panose="05000000000000000000" pitchFamily="2" charset="2"/>
              <a:buChar char="Ø"/>
            </a:pPr>
            <a:r>
              <a:rPr lang="en-US" sz="2400" dirty="0"/>
              <a:t>To improve coordination between distributors, dealers, and delivery agencies.</a:t>
            </a:r>
          </a:p>
          <a:p>
            <a:pPr marL="342900" indent="-342900">
              <a:buFont typeface="Wingdings" panose="05000000000000000000" pitchFamily="2" charset="2"/>
              <a:buChar char="Ø"/>
            </a:pPr>
            <a:r>
              <a:rPr lang="en-US" sz="2400" dirty="0"/>
              <a:t>To make the overall process faster, smoother, and more organized.</a:t>
            </a:r>
          </a:p>
          <a:p>
            <a:endParaRPr lang="en-US" sz="2100" dirty="0"/>
          </a:p>
        </p:txBody>
      </p:sp>
      <p:sp>
        <p:nvSpPr>
          <p:cNvPr id="7" name="TextBox 6">
            <a:extLst>
              <a:ext uri="{FF2B5EF4-FFF2-40B4-BE49-F238E27FC236}">
                <a16:creationId xmlns:a16="http://schemas.microsoft.com/office/drawing/2014/main" id="{4E39FAA4-6AC9-24B2-7798-CBEDB7E44E62}"/>
              </a:ext>
            </a:extLst>
          </p:cNvPr>
          <p:cNvSpPr txBox="1"/>
          <p:nvPr/>
        </p:nvSpPr>
        <p:spPr>
          <a:xfrm>
            <a:off x="867747" y="2259974"/>
            <a:ext cx="5345141" cy="646331"/>
          </a:xfrm>
          <a:prstGeom prst="rect">
            <a:avLst/>
          </a:prstGeom>
          <a:noFill/>
        </p:spPr>
        <p:txBody>
          <a:bodyPr wrap="square">
            <a:spAutoFit/>
          </a:bodyPr>
          <a:lstStyle/>
          <a:p>
            <a:r>
              <a:rPr lang="en-US" sz="3600" b="1" dirty="0"/>
              <a:t>Objectives</a:t>
            </a:r>
          </a:p>
        </p:txBody>
      </p:sp>
    </p:spTree>
    <p:extLst>
      <p:ext uri="{BB962C8B-B14F-4D97-AF65-F5344CB8AC3E}">
        <p14:creationId xmlns:p14="http://schemas.microsoft.com/office/powerpoint/2010/main" val="1532413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E9EDE-59ED-1FBA-F789-CD070B54F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96EA9-0697-8528-95E1-F7714E096A2C}"/>
              </a:ext>
            </a:extLst>
          </p:cNvPr>
          <p:cNvSpPr>
            <a:spLocks noGrp="1"/>
          </p:cNvSpPr>
          <p:nvPr>
            <p:ph type="title"/>
          </p:nvPr>
        </p:nvSpPr>
        <p:spPr>
          <a:xfrm>
            <a:off x="-6177" y="1287"/>
            <a:ext cx="12190625" cy="834960"/>
          </a:xfrm>
          <a:solidFill>
            <a:schemeClr val="bg1"/>
          </a:solidFill>
          <a:ln>
            <a:solidFill>
              <a:schemeClr val="bg1"/>
            </a:solidFill>
          </a:ln>
        </p:spPr>
        <p:txBody>
          <a:bodyPr/>
          <a:lstStyle/>
          <a:p>
            <a:r>
              <a:rPr lang="en-US" sz="4000" b="1" dirty="0">
                <a:latin typeface="Bookman Old Style" panose="02050604050505020204" pitchFamily="18" charset="0"/>
                <a:cs typeface="Bookman Old Style" panose="02050604050505020204" pitchFamily="18" charset="0"/>
              </a:rPr>
              <a:t>Existing Websites</a:t>
            </a:r>
          </a:p>
        </p:txBody>
      </p:sp>
      <p:pic>
        <p:nvPicPr>
          <p:cNvPr id="5" name="Picture 4" descr="kle logo.png">
            <a:extLst>
              <a:ext uri="{FF2B5EF4-FFF2-40B4-BE49-F238E27FC236}">
                <a16:creationId xmlns:a16="http://schemas.microsoft.com/office/drawing/2014/main" id="{64DBD646-1497-88C7-CF51-2D734A882D4B}"/>
              </a:ext>
            </a:extLst>
          </p:cNvPr>
          <p:cNvPicPr>
            <a:picLocks noChangeAspect="1"/>
          </p:cNvPicPr>
          <p:nvPr/>
        </p:nvPicPr>
        <p:blipFill>
          <a:blip r:embed="rId4"/>
          <a:stretch>
            <a:fillRect/>
          </a:stretch>
        </p:blipFill>
        <p:spPr>
          <a:xfrm>
            <a:off x="9247904" y="93239"/>
            <a:ext cx="3095625" cy="742950"/>
          </a:xfrm>
          <a:prstGeom prst="rect">
            <a:avLst/>
          </a:prstGeom>
        </p:spPr>
      </p:pic>
      <p:graphicFrame>
        <p:nvGraphicFramePr>
          <p:cNvPr id="6" name="Table 5">
            <a:extLst>
              <a:ext uri="{FF2B5EF4-FFF2-40B4-BE49-F238E27FC236}">
                <a16:creationId xmlns:a16="http://schemas.microsoft.com/office/drawing/2014/main" id="{A53391BE-F290-D50C-454A-6145710C6125}"/>
              </a:ext>
            </a:extLst>
          </p:cNvPr>
          <p:cNvGraphicFramePr>
            <a:graphicFrameLocks noGrp="1"/>
          </p:cNvGraphicFramePr>
          <p:nvPr>
            <p:custDataLst>
              <p:tags r:id="rId1"/>
            </p:custDataLst>
            <p:extLst>
              <p:ext uri="{D42A27DB-BD31-4B8C-83A1-F6EECF244321}">
                <p14:modId xmlns:p14="http://schemas.microsoft.com/office/powerpoint/2010/main" val="796610679"/>
              </p:ext>
            </p:extLst>
          </p:nvPr>
        </p:nvGraphicFramePr>
        <p:xfrm>
          <a:off x="325120" y="1121182"/>
          <a:ext cx="11572240" cy="5188178"/>
        </p:xfrm>
        <a:graphic>
          <a:graphicData uri="http://schemas.openxmlformats.org/drawingml/2006/table">
            <a:tbl>
              <a:tblPr bandRow="1">
                <a:tableStyleId>{5C22544A-7EE6-4342-B048-85BDC9FD1C3A}</a:tableStyleId>
              </a:tblPr>
              <a:tblGrid>
                <a:gridCol w="1981200">
                  <a:extLst>
                    <a:ext uri="{9D8B030D-6E8A-4147-A177-3AD203B41FA5}">
                      <a16:colId xmlns:a16="http://schemas.microsoft.com/office/drawing/2014/main" val="20000"/>
                    </a:ext>
                  </a:extLst>
                </a:gridCol>
                <a:gridCol w="3190240">
                  <a:extLst>
                    <a:ext uri="{9D8B030D-6E8A-4147-A177-3AD203B41FA5}">
                      <a16:colId xmlns:a16="http://schemas.microsoft.com/office/drawing/2014/main" val="20001"/>
                    </a:ext>
                  </a:extLst>
                </a:gridCol>
                <a:gridCol w="2123440">
                  <a:extLst>
                    <a:ext uri="{9D8B030D-6E8A-4147-A177-3AD203B41FA5}">
                      <a16:colId xmlns:a16="http://schemas.microsoft.com/office/drawing/2014/main" val="20002"/>
                    </a:ext>
                  </a:extLst>
                </a:gridCol>
                <a:gridCol w="2005415">
                  <a:extLst>
                    <a:ext uri="{9D8B030D-6E8A-4147-A177-3AD203B41FA5}">
                      <a16:colId xmlns:a16="http://schemas.microsoft.com/office/drawing/2014/main" val="3136985575"/>
                    </a:ext>
                  </a:extLst>
                </a:gridCol>
                <a:gridCol w="2271945">
                  <a:extLst>
                    <a:ext uri="{9D8B030D-6E8A-4147-A177-3AD203B41FA5}">
                      <a16:colId xmlns:a16="http://schemas.microsoft.com/office/drawing/2014/main" val="20003"/>
                    </a:ext>
                  </a:extLst>
                </a:gridCol>
              </a:tblGrid>
              <a:tr h="515760">
                <a:tc>
                  <a:txBody>
                    <a:bodyPr/>
                    <a:lstStyle/>
                    <a:p>
                      <a:pPr algn="ctr">
                        <a:buNone/>
                      </a:pPr>
                      <a:r>
                        <a:rPr lang="en-US" sz="1800" dirty="0">
                          <a:effectLst/>
                          <a:latin typeface="Bookman Old Style" panose="02050604050505020204" pitchFamily="18" charset="0"/>
                          <a:ea typeface="ＭＳ 明朝"/>
                          <a:cs typeface="Times New Roman" panose="02020603050405020304"/>
                        </a:rPr>
                        <a:t>Application</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5">
                        <a:lumMod val="40000"/>
                        <a:lumOff val="60000"/>
                      </a:schemeClr>
                    </a:solidFill>
                  </a:tcPr>
                </a:tc>
                <a:tc>
                  <a:txBody>
                    <a:bodyPr/>
                    <a:lstStyle/>
                    <a:p>
                      <a:pPr algn="ctr">
                        <a:buNone/>
                      </a:pPr>
                      <a:r>
                        <a:rPr lang="en-US" sz="1800" dirty="0">
                          <a:effectLst/>
                          <a:latin typeface="Bookman Old Style" panose="02050604050505020204" pitchFamily="18" charset="0"/>
                          <a:ea typeface="ＭＳ 明朝"/>
                          <a:cs typeface="Times New Roman" panose="02020603050405020304"/>
                        </a:rPr>
                        <a:t>Features</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algn="ctr">
                        <a:buNone/>
                      </a:pPr>
                      <a:r>
                        <a:rPr lang="en-US" sz="1800" dirty="0">
                          <a:effectLst/>
                          <a:latin typeface="Bookman Old Style" panose="02050604050505020204" pitchFamily="18" charset="0"/>
                          <a:ea typeface="ＭＳ 明朝"/>
                          <a:cs typeface="Times New Roman" panose="02020603050405020304"/>
                        </a:rPr>
                        <a:t>Technologies</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algn="ctr">
                        <a:buNone/>
                      </a:pPr>
                      <a:r>
                        <a:rPr lang="en-US" sz="1800" dirty="0">
                          <a:effectLst/>
                          <a:latin typeface="Bookman Old Style" panose="02050604050505020204" pitchFamily="18" charset="0"/>
                          <a:ea typeface="ＭＳ 明朝"/>
                          <a:cs typeface="Times New Roman" panose="02020603050405020304"/>
                        </a:rPr>
                        <a:t>Performance</a:t>
                      </a:r>
                    </a:p>
                  </a:txBody>
                  <a:tcPr marL="68580" marR="68580">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US" sz="1800" dirty="0">
                          <a:effectLst/>
                          <a:latin typeface="Bookman Old Style" panose="02050604050505020204" pitchFamily="18" charset="0"/>
                          <a:ea typeface="ＭＳ 明朝"/>
                          <a:cs typeface="Times New Roman" panose="02020603050405020304"/>
                        </a:rPr>
                        <a:t>Drawbacks</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extLst>
                  <a:ext uri="{0D108BD9-81ED-4DB2-BD59-A6C34878D82A}">
                    <a16:rowId xmlns:a16="http://schemas.microsoft.com/office/drawing/2014/main" val="10000"/>
                  </a:ext>
                </a:extLst>
              </a:tr>
              <a:tr h="1456564">
                <a:tc>
                  <a:txBody>
                    <a:bodyPr/>
                    <a:lstStyle/>
                    <a:p>
                      <a:pPr lvl="0">
                        <a:buNone/>
                      </a:pPr>
                      <a:r>
                        <a:rPr lang="en-IN" sz="1800" dirty="0"/>
                        <a:t>Alibaba</a:t>
                      </a:r>
                      <a:endParaRPr lang="en-US" sz="1800" dirty="0">
                        <a:latin typeface="Bookman Old Style" panose="02050604050505020204" pitchFamily="18" charset="0"/>
                      </a:endParaRPr>
                    </a:p>
                  </a:txBody>
                  <a:tcPr marL="68580" marR="6858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dirty="0"/>
                        <a:t>A huge global marketplace. Enables search of products, buy in bulk, and chat directly with suppliers.</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Uses modern web technology, mobile apps, and AI to suggest products.</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Fast and handles a lot of users smoothly. Searching is easy.</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Too many sellers, so it’s hard to trust everyone. Product quality may differ. </a:t>
                      </a:r>
                    </a:p>
                  </a:txBody>
                  <a:tcPr marL="68580" marR="68580">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07927">
                <a:tc>
                  <a:txBody>
                    <a:bodyPr/>
                    <a:lstStyle/>
                    <a:p>
                      <a:pPr lvl="0">
                        <a:buNone/>
                      </a:pPr>
                      <a:r>
                        <a:rPr lang="en-IN" sz="1800" dirty="0" err="1"/>
                        <a:t>IndiaMART</a:t>
                      </a:r>
                      <a:endParaRPr lang="en-US" sz="1800" dirty="0">
                        <a:latin typeface="Bookman Old Style" panose="02050604050505020204" pitchFamily="18" charset="0"/>
                      </a:endParaRPr>
                    </a:p>
                  </a:txBody>
                  <a:tcPr marL="68580" marR="6858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dirty="0"/>
                        <a:t>Connects buyers and sellers mainly within India. One can view products, send inquiries, and even get calls from sellers.</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Basic web tech, mobile app, simple interface</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Decent speed, works well for local use</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very global. You may get too many spam calls or messages. </a:t>
                      </a:r>
                    </a:p>
                    <a:p>
                      <a:pPr>
                        <a:buNone/>
                      </a:pP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07927">
                <a:tc>
                  <a:txBody>
                    <a:bodyPr/>
                    <a:lstStyle/>
                    <a:p>
                      <a:pPr lvl="0">
                        <a:buNone/>
                      </a:pPr>
                      <a:r>
                        <a:rPr lang="en-IN" sz="1800" dirty="0" err="1"/>
                        <a:t>ThomasNet</a:t>
                      </a:r>
                      <a:endParaRPr lang="en-US" sz="1800" dirty="0">
                        <a:latin typeface="Bookman Old Style" panose="02050604050505020204" pitchFamily="18" charset="0"/>
                      </a:endParaRPr>
                    </a:p>
                  </a:txBody>
                  <a:tcPr marL="68580" marR="6858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800" dirty="0"/>
                        <a:t>Focus on US suppliers, detailed company info, industrial products</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800" dirty="0"/>
                        <a:t>Strong database system, clean website design</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Reliable and accurate info, smooth browsing</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Mostly US only, fewer products than Alibaba, not for small buyers</a:t>
                      </a:r>
                      <a:endParaRPr lang="en-US" sz="18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7214537"/>
                  </a:ext>
                </a:extLst>
              </a:tr>
            </a:tbl>
          </a:graphicData>
        </a:graphic>
      </p:graphicFrame>
    </p:spTree>
    <p:extLst>
      <p:ext uri="{BB962C8B-B14F-4D97-AF65-F5344CB8AC3E}">
        <p14:creationId xmlns:p14="http://schemas.microsoft.com/office/powerpoint/2010/main" val="4061142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44414" y="95224"/>
            <a:ext cx="10458061" cy="1062355"/>
          </a:xfrm>
        </p:spPr>
        <p:txBody>
          <a:bodyPr/>
          <a:lstStyle/>
          <a:p>
            <a:r>
              <a:rPr lang="en-US" b="1" dirty="0">
                <a:latin typeface="Bookman Old Style" panose="02050604050505020204" pitchFamily="18" charset="0"/>
                <a:cs typeface="Bookman Old Style" panose="02050604050505020204" pitchFamily="18" charset="0"/>
                <a:sym typeface="+mn-ea"/>
              </a:rPr>
              <a:t>Block Diagram</a:t>
            </a:r>
            <a:endParaRPr lang="en-US" dirty="0">
              <a:latin typeface="Bookman Old Style" panose="02050604050505020204" pitchFamily="18" charset="0"/>
              <a:cs typeface="Bookman Old Style" panose="02050604050505020204" pitchFamily="18" charset="0"/>
            </a:endParaRPr>
          </a:p>
        </p:txBody>
      </p:sp>
      <p:pic>
        <p:nvPicPr>
          <p:cNvPr id="7" name="Picture 6"/>
          <p:cNvPicPr>
            <a:picLocks noChangeAspect="1"/>
          </p:cNvPicPr>
          <p:nvPr/>
        </p:nvPicPr>
        <p:blipFill>
          <a:blip r:embed="rId2"/>
          <a:stretch>
            <a:fillRect/>
          </a:stretch>
        </p:blipFill>
        <p:spPr>
          <a:xfrm>
            <a:off x="8695055" y="254000"/>
            <a:ext cx="3100070" cy="588645"/>
          </a:xfrm>
          <a:prstGeom prst="rect">
            <a:avLst/>
          </a:prstGeom>
        </p:spPr>
      </p:pic>
      <p:pic>
        <p:nvPicPr>
          <p:cNvPr id="10" name="Picture 9">
            <a:extLst>
              <a:ext uri="{FF2B5EF4-FFF2-40B4-BE49-F238E27FC236}">
                <a16:creationId xmlns:a16="http://schemas.microsoft.com/office/drawing/2014/main" id="{EBC5BED2-81FC-1ED4-EE25-B3FE91327C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1157579"/>
            <a:ext cx="10287000" cy="54464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950595"/>
          </a:xfrm>
        </p:spPr>
        <p:txBody>
          <a:bodyPr>
            <a:normAutofit/>
          </a:bodyPr>
          <a:lstStyle/>
          <a:p>
            <a:r>
              <a:rPr lang="en-US" sz="4800" b="1" dirty="0">
                <a:latin typeface="Bookman Old Style" panose="02050604050505020204" pitchFamily="18" charset="0"/>
                <a:cs typeface="Bookman Old Style" panose="02050604050505020204" pitchFamily="18" charset="0"/>
                <a:sym typeface="+mn-ea"/>
              </a:rPr>
              <a:t>Functional Requirements</a:t>
            </a:r>
            <a:endParaRPr lang="en-US" sz="4800" dirty="0">
              <a:latin typeface="Bookman Old Style" panose="02050604050505020204" pitchFamily="18" charset="0"/>
              <a:cs typeface="Bookman Old Style" panose="02050604050505020204" pitchFamily="18" charset="0"/>
            </a:endParaRPr>
          </a:p>
        </p:txBody>
      </p:sp>
      <p:sp>
        <p:nvSpPr>
          <p:cNvPr id="5" name="Content Placeholder 4"/>
          <p:cNvSpPr>
            <a:spLocks noGrp="1"/>
          </p:cNvSpPr>
          <p:nvPr>
            <p:ph idx="1"/>
          </p:nvPr>
        </p:nvSpPr>
        <p:spPr>
          <a:xfrm>
            <a:off x="838200" y="1558925"/>
            <a:ext cx="10515600" cy="4618355"/>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 typeface="Wingdings" panose="05000000000000000000" charset="0"/>
              <a:buNone/>
            </a:pPr>
            <a:r>
              <a:rPr lang="en-US" altLang="en-US" sz="3600" b="1" dirty="0">
                <a:ln>
                  <a:noFill/>
                </a:ln>
                <a:effectLst/>
                <a:latin typeface="Calibri" panose="020F0502020204030204" charset="0"/>
                <a:cs typeface="Calibri" panose="020F0502020204030204" charset="0"/>
                <a:sym typeface="+mn-ea"/>
              </a:rPr>
              <a:t>Dealer Panel Requirements</a:t>
            </a:r>
          </a:p>
          <a:p>
            <a:pPr marL="0" marR="0" lvl="0" indent="0" algn="just" defTabSz="914400" rtl="0" eaLnBrk="0" fontAlgn="base" latinLnBrk="0" hangingPunct="0">
              <a:lnSpc>
                <a:spcPct val="100000"/>
              </a:lnSpc>
              <a:spcBef>
                <a:spcPct val="0"/>
              </a:spcBef>
              <a:spcAft>
                <a:spcPct val="0"/>
              </a:spcAft>
              <a:buClrTx/>
              <a:buSzTx/>
              <a:buFont typeface="Wingdings" panose="05000000000000000000" charset="0"/>
              <a:buNone/>
            </a:pPr>
            <a:endParaRPr kumimoji="0" lang="en-US" altLang="en-US" sz="3600" b="1" i="0" u="none" strike="noStrike" cap="none" normalizeH="0" baseline="0" dirty="0">
              <a:ln>
                <a:noFill/>
              </a:ln>
              <a:solidFill>
                <a:schemeClr val="tx1"/>
              </a:solidFill>
              <a:effectLst/>
              <a:latin typeface="Calibri" panose="020F0502020204030204" charset="0"/>
              <a:cs typeface="Calibri" panose="020F0502020204030204"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sz="2400" dirty="0"/>
              <a:t>The system shall make it easy for dealers to look through products and filter them by category or brand.</a:t>
            </a:r>
          </a:p>
          <a:p>
            <a:pPr lvl="0" algn="just" eaLnBrk="0" fontAlgn="base" hangingPunct="0">
              <a:lnSpc>
                <a:spcPct val="100000"/>
              </a:lnSpc>
              <a:spcBef>
                <a:spcPct val="0"/>
              </a:spcBef>
              <a:spcAft>
                <a:spcPct val="0"/>
              </a:spcAft>
              <a:buFont typeface="Wingdings" panose="05000000000000000000" pitchFamily="2" charset="2"/>
              <a:buChar char="Ø"/>
            </a:pPr>
            <a:r>
              <a:rPr lang="en-US" sz="2400" dirty="0"/>
              <a:t>The system shall let dealers place orders quickly and easily.</a:t>
            </a:r>
          </a:p>
          <a:p>
            <a:pPr lvl="0" algn="just" eaLnBrk="0" fontAlgn="base" hangingPunct="0">
              <a:lnSpc>
                <a:spcPct val="100000"/>
              </a:lnSpc>
              <a:spcBef>
                <a:spcPct val="0"/>
              </a:spcBef>
              <a:spcAft>
                <a:spcPct val="0"/>
              </a:spcAft>
              <a:buFont typeface="Wingdings" panose="05000000000000000000" pitchFamily="2" charset="2"/>
              <a:buChar char="Ø"/>
            </a:pPr>
            <a:r>
              <a:rPr lang="en-US" sz="2400" dirty="0"/>
              <a:t>The system shall help dealers track their orders in real time and see delivery updates.</a:t>
            </a:r>
          </a:p>
          <a:p>
            <a:pPr algn="just" eaLnBrk="0" fontAlgn="base" hangingPunct="0">
              <a:lnSpc>
                <a:spcPct val="100000"/>
              </a:lnSpc>
              <a:spcBef>
                <a:spcPct val="0"/>
              </a:spcBef>
              <a:spcAft>
                <a:spcPct val="0"/>
              </a:spcAft>
              <a:buFont typeface="Wingdings" panose="05000000000000000000" pitchFamily="2" charset="2"/>
              <a:buChar char="Ø"/>
            </a:pPr>
            <a:r>
              <a:rPr lang="en-US" sz="2400" dirty="0"/>
              <a:t>The system shall allow dealers to manage and update their profile and shop information</a:t>
            </a:r>
            <a:endParaRPr lang="en-US" sz="2400" dirty="0">
              <a:latin typeface="Calibri" panose="020F0502020204030204" charset="0"/>
              <a:cs typeface="Calibri" panose="020F0502020204030204" charset="0"/>
            </a:endParaRPr>
          </a:p>
        </p:txBody>
      </p:sp>
      <p:pic>
        <p:nvPicPr>
          <p:cNvPr id="7" name="Picture 6"/>
          <p:cNvPicPr>
            <a:picLocks noChangeAspect="1"/>
          </p:cNvPicPr>
          <p:nvPr/>
        </p:nvPicPr>
        <p:blipFill>
          <a:blip r:embed="rId2"/>
          <a:stretch>
            <a:fillRect/>
          </a:stretch>
        </p:blipFill>
        <p:spPr>
          <a:xfrm>
            <a:off x="8441055" y="172720"/>
            <a:ext cx="3100070" cy="5886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0875" y="822325"/>
            <a:ext cx="10515600" cy="4737735"/>
          </a:xfrm>
        </p:spPr>
        <p:txBody>
          <a:bodyPr>
            <a:noAutofit/>
          </a:bodyPr>
          <a:lstStyle/>
          <a:p>
            <a:pPr marL="0" marR="0" lvl="0" indent="0" algn="just" defTabSz="914400" rtl="0" eaLnBrk="0" fontAlgn="base" latinLnBrk="0" hangingPunct="0">
              <a:lnSpc>
                <a:spcPct val="100000"/>
              </a:lnSpc>
              <a:spcBef>
                <a:spcPct val="0"/>
              </a:spcBef>
              <a:spcAft>
                <a:spcPct val="0"/>
              </a:spcAft>
              <a:buClrTx/>
              <a:buSzTx/>
              <a:buFontTx/>
              <a:buNone/>
            </a:pPr>
            <a:r>
              <a:rPr lang="en-US" altLang="en-US" sz="3600" b="1" dirty="0">
                <a:ln>
                  <a:noFill/>
                </a:ln>
                <a:effectLst/>
                <a:cs typeface="Bookman Old Style" panose="02050604050505020204" pitchFamily="18" charset="0"/>
                <a:sym typeface="+mn-ea"/>
              </a:rPr>
              <a:t>Distributor Panel Requirements</a:t>
            </a:r>
          </a:p>
          <a:p>
            <a:pPr marL="0" marR="0" lvl="0" indent="0" algn="just" defTabSz="914400" rtl="0" eaLnBrk="0" fontAlgn="base" latinLnBrk="0" hangingPunct="0">
              <a:lnSpc>
                <a:spcPct val="100000"/>
              </a:lnSpc>
              <a:spcBef>
                <a:spcPct val="0"/>
              </a:spcBef>
              <a:spcAft>
                <a:spcPct val="0"/>
              </a:spcAft>
              <a:buClrTx/>
              <a:buSzTx/>
              <a:buFontTx/>
              <a:buNone/>
            </a:pPr>
            <a:endParaRPr lang="en-US" altLang="en-US" sz="3600" b="1" dirty="0">
              <a:ln>
                <a:noFill/>
              </a:ln>
              <a:effectLst/>
              <a:cs typeface="Bookman Old Style" panose="02050604050505020204" pitchFamily="18" charset="0"/>
              <a:sym typeface="+mn-ea"/>
            </a:endParaRPr>
          </a:p>
          <a:p>
            <a:pPr algn="just">
              <a:buFont typeface="Wingdings" panose="05000000000000000000" pitchFamily="2" charset="2"/>
              <a:buChar char="Ø"/>
            </a:pPr>
            <a:r>
              <a:rPr lang="en-US" sz="2400" dirty="0"/>
              <a:t>The system shall let distributors add, view, update, and delete product and brand information.</a:t>
            </a:r>
          </a:p>
          <a:p>
            <a:pPr algn="just">
              <a:buFont typeface="Wingdings" panose="05000000000000000000" pitchFamily="2" charset="2"/>
              <a:buChar char="Ø"/>
            </a:pPr>
            <a:r>
              <a:rPr lang="en-US" sz="2400" dirty="0"/>
              <a:t>The system shall allow distributors to see incoming orders and approve or reject them from one dashboard.</a:t>
            </a:r>
          </a:p>
          <a:p>
            <a:pPr algn="just">
              <a:buFont typeface="Wingdings" panose="05000000000000000000" pitchFamily="2" charset="2"/>
              <a:buChar char="Ø"/>
            </a:pPr>
            <a:r>
              <a:rPr lang="en-US" sz="2400" dirty="0"/>
              <a:t>The system shall help distributors manage dealer accounts, including approving new registrations.</a:t>
            </a:r>
          </a:p>
          <a:p>
            <a:pPr algn="just">
              <a:buFont typeface="Wingdings" panose="05000000000000000000" pitchFamily="2" charset="2"/>
              <a:buChar char="Ø"/>
            </a:pPr>
            <a:r>
              <a:rPr lang="en-US" sz="2400" dirty="0"/>
              <a:t>The system shall let distributors assign confirmed orders to travel agencies for delivery.</a:t>
            </a: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dirty="0">
              <a:ln>
                <a:noFill/>
              </a:ln>
              <a:solidFill>
                <a:schemeClr val="tx1"/>
              </a:solidFill>
              <a:effectLst/>
              <a:latin typeface="Calibri" panose="020F0502020204030204" charset="0"/>
              <a:cs typeface="Calibri" panose="020F0502020204030204" charset="0"/>
            </a:endParaRPr>
          </a:p>
        </p:txBody>
      </p:sp>
      <p:pic>
        <p:nvPicPr>
          <p:cNvPr id="7" name="Picture 6"/>
          <p:cNvPicPr>
            <a:picLocks noChangeAspect="1"/>
          </p:cNvPicPr>
          <p:nvPr/>
        </p:nvPicPr>
        <p:blipFill>
          <a:blip r:embed="rId2"/>
          <a:stretch>
            <a:fillRect/>
          </a:stretch>
        </p:blipFill>
        <p:spPr>
          <a:xfrm>
            <a:off x="8441055" y="233680"/>
            <a:ext cx="3100070" cy="5886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0918" y="917030"/>
            <a:ext cx="10515600" cy="4737735"/>
          </a:xfrm>
        </p:spPr>
        <p:txBody>
          <a:bodyPr>
            <a:noAutofit/>
          </a:bodyPr>
          <a:lstStyle/>
          <a:p>
            <a:pPr marL="0" marR="0" lvl="0" indent="0" algn="just" defTabSz="914400" rtl="0" eaLnBrk="0" fontAlgn="base" latinLnBrk="0" hangingPunct="0">
              <a:lnSpc>
                <a:spcPct val="100000"/>
              </a:lnSpc>
              <a:spcBef>
                <a:spcPct val="0"/>
              </a:spcBef>
              <a:spcAft>
                <a:spcPct val="0"/>
              </a:spcAft>
              <a:buClrTx/>
              <a:buSzTx/>
              <a:buFontTx/>
              <a:buNone/>
            </a:pPr>
            <a:r>
              <a:rPr lang="en-US" altLang="en-US" sz="3600" b="1" dirty="0">
                <a:ln>
                  <a:noFill/>
                </a:ln>
                <a:effectLst/>
                <a:cs typeface="Bookman Old Style" panose="02050604050505020204" pitchFamily="18" charset="0"/>
                <a:sym typeface="+mn-ea"/>
              </a:rPr>
              <a:t>Travel Agency / Driver Panel Requirements</a:t>
            </a:r>
          </a:p>
          <a:p>
            <a:pPr marL="0" marR="0" lvl="0" indent="0" algn="just" defTabSz="914400" rtl="0" eaLnBrk="0" fontAlgn="base" latinLnBrk="0" hangingPunct="0">
              <a:lnSpc>
                <a:spcPct val="100000"/>
              </a:lnSpc>
              <a:spcBef>
                <a:spcPct val="0"/>
              </a:spcBef>
              <a:spcAft>
                <a:spcPct val="0"/>
              </a:spcAft>
              <a:buClrTx/>
              <a:buSzTx/>
              <a:buFontTx/>
              <a:buNone/>
            </a:pPr>
            <a:endParaRPr lang="en-US" altLang="en-US" sz="3600" b="1" dirty="0">
              <a:ln>
                <a:noFill/>
              </a:ln>
              <a:effectLst/>
              <a:cs typeface="Bookman Old Style" panose="02050604050505020204" pitchFamily="18" charset="0"/>
              <a:sym typeface="+mn-ea"/>
            </a:endParaRPr>
          </a:p>
          <a:p>
            <a:pPr lvl="0" algn="just" eaLnBrk="0" fontAlgn="base" hangingPunct="0">
              <a:lnSpc>
                <a:spcPct val="100000"/>
              </a:lnSpc>
              <a:spcBef>
                <a:spcPct val="0"/>
              </a:spcBef>
              <a:spcAft>
                <a:spcPct val="0"/>
              </a:spcAft>
              <a:buFont typeface="Wingdings" panose="05000000000000000000" pitchFamily="2" charset="2"/>
              <a:buChar char="Ø"/>
            </a:pPr>
            <a:r>
              <a:rPr lang="en-US" sz="2400" dirty="0"/>
              <a:t>The system shall notify travel agencies and drivers about new delivery requests.</a:t>
            </a:r>
          </a:p>
          <a:p>
            <a:pPr lvl="0" algn="just" eaLnBrk="0" fontAlgn="base" hangingPunct="0">
              <a:lnSpc>
                <a:spcPct val="100000"/>
              </a:lnSpc>
              <a:spcBef>
                <a:spcPct val="0"/>
              </a:spcBef>
              <a:spcAft>
                <a:spcPct val="0"/>
              </a:spcAft>
              <a:buFont typeface="Wingdings" panose="05000000000000000000" pitchFamily="2" charset="2"/>
              <a:buChar char="Ø"/>
            </a:pPr>
            <a:r>
              <a:rPr lang="en-US" sz="2400" dirty="0"/>
              <a:t>The system shall let drivers see delivery details and choose orders based on their availability.</a:t>
            </a:r>
          </a:p>
          <a:p>
            <a:pPr lvl="0" algn="just" eaLnBrk="0" fontAlgn="base" hangingPunct="0">
              <a:lnSpc>
                <a:spcPct val="100000"/>
              </a:lnSpc>
              <a:spcBef>
                <a:spcPct val="0"/>
              </a:spcBef>
              <a:spcAft>
                <a:spcPct val="0"/>
              </a:spcAft>
              <a:buFont typeface="Wingdings" panose="05000000000000000000" pitchFamily="2" charset="2"/>
              <a:buChar char="Ø"/>
            </a:pPr>
            <a:r>
              <a:rPr lang="en-US" sz="2400" dirty="0"/>
              <a:t>The system shall allow drivers to update delivery status (picked up, in transit, delivered). </a:t>
            </a:r>
          </a:p>
          <a:p>
            <a:pPr lvl="0" algn="just" eaLnBrk="0" fontAlgn="base" hangingPunct="0">
              <a:lnSpc>
                <a:spcPct val="100000"/>
              </a:lnSpc>
              <a:spcBef>
                <a:spcPct val="0"/>
              </a:spcBef>
              <a:spcAft>
                <a:spcPct val="0"/>
              </a:spcAft>
              <a:buFont typeface="Wingdings" panose="05000000000000000000" pitchFamily="2" charset="2"/>
              <a:buChar char="Ø"/>
            </a:pPr>
            <a:r>
              <a:rPr lang="en-US" sz="2400" dirty="0"/>
              <a:t>The system shall help travel agencies manage driver details, vehicle information, and availability.</a:t>
            </a:r>
          </a:p>
          <a:p>
            <a:pPr marL="0" marR="0" lvl="0" indent="0" algn="just" defTabSz="914400" rtl="0" eaLnBrk="0" fontAlgn="base" latinLnBrk="0" hangingPunct="0">
              <a:lnSpc>
                <a:spcPct val="100000"/>
              </a:lnSpc>
              <a:spcBef>
                <a:spcPct val="0"/>
              </a:spcBef>
              <a:spcAft>
                <a:spcPct val="0"/>
              </a:spcAft>
              <a:buClrTx/>
              <a:buSzTx/>
              <a:buFontTx/>
              <a:buNone/>
            </a:pPr>
            <a:endParaRPr lang="en-US" altLang="en-US" sz="2200" dirty="0">
              <a:latin typeface="Calibri" panose="020F0502020204030204" charset="0"/>
              <a:cs typeface="Calibri" panose="020F0502020204030204" charset="0"/>
            </a:endParaRPr>
          </a:p>
        </p:txBody>
      </p:sp>
      <p:pic>
        <p:nvPicPr>
          <p:cNvPr id="7" name="Picture 6"/>
          <p:cNvPicPr>
            <a:picLocks noChangeAspect="1"/>
          </p:cNvPicPr>
          <p:nvPr/>
        </p:nvPicPr>
        <p:blipFill>
          <a:blip r:embed="rId2"/>
          <a:stretch>
            <a:fillRect/>
          </a:stretch>
        </p:blipFill>
        <p:spPr>
          <a:xfrm>
            <a:off x="8441055" y="233680"/>
            <a:ext cx="3100070" cy="5886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3662"/>
            <a:ext cx="10515600" cy="868680"/>
          </a:xfrm>
        </p:spPr>
        <p:txBody>
          <a:bodyPr>
            <a:normAutofit/>
          </a:bodyPr>
          <a:lstStyle/>
          <a:p>
            <a:r>
              <a:rPr lang="en-US" sz="4000" b="1" dirty="0">
                <a:latin typeface="Bookman Old Style" panose="02050604050505020204" pitchFamily="18" charset="0"/>
                <a:cs typeface="Bookman Old Style" panose="02050604050505020204" pitchFamily="18" charset="0"/>
                <a:sym typeface="+mn-ea"/>
              </a:rPr>
              <a:t>Non-Functional </a:t>
            </a:r>
            <a:r>
              <a:rPr lang="en-US" sz="4800" b="1" dirty="0">
                <a:latin typeface="Bookman Old Style" panose="02050604050505020204" pitchFamily="18" charset="0"/>
                <a:cs typeface="Bookman Old Style" panose="02050604050505020204" pitchFamily="18" charset="0"/>
                <a:sym typeface="+mn-ea"/>
              </a:rPr>
              <a:t>Requirements</a:t>
            </a:r>
            <a:endParaRPr lang="en-US" sz="4800" dirty="0">
              <a:latin typeface="Bookman Old Style" panose="02050604050505020204" pitchFamily="18" charset="0"/>
              <a:cs typeface="Bookman Old Style" panose="02050604050505020204" pitchFamily="18" charset="0"/>
            </a:endParaRPr>
          </a:p>
        </p:txBody>
      </p:sp>
      <p:sp>
        <p:nvSpPr>
          <p:cNvPr id="3" name="Content Placeholder 2"/>
          <p:cNvSpPr>
            <a:spLocks noGrp="1"/>
          </p:cNvSpPr>
          <p:nvPr>
            <p:ph idx="1"/>
          </p:nvPr>
        </p:nvSpPr>
        <p:spPr>
          <a:xfrm>
            <a:off x="744894" y="1178288"/>
            <a:ext cx="10515600" cy="5019312"/>
          </a:xfrm>
        </p:spPr>
        <p:txBody>
          <a:bodyPr>
            <a:noAutofit/>
          </a:bodyPr>
          <a:lstStyle/>
          <a:p>
            <a:pPr marL="0" marR="0" lvl="0" indent="0" algn="just" defTabSz="914400" rtl="0" eaLnBrk="0" fontAlgn="base" latinLnBrk="0" hangingPunct="0">
              <a:lnSpc>
                <a:spcPct val="100000"/>
              </a:lnSpc>
              <a:spcBef>
                <a:spcPct val="0"/>
              </a:spcBef>
              <a:spcAft>
                <a:spcPct val="0"/>
              </a:spcAft>
              <a:buClrTx/>
              <a:buSzTx/>
              <a:buFontTx/>
              <a:buNone/>
            </a:pPr>
            <a:r>
              <a:rPr lang="en-US" sz="3600" b="1" dirty="0">
                <a:latin typeface="Calibri" panose="020F0502020204030204" charset="0"/>
                <a:cs typeface="Calibri" panose="020F0502020204030204" charset="0"/>
                <a:sym typeface="+mn-ea"/>
              </a:rPr>
              <a:t>Security</a:t>
            </a:r>
          </a:p>
          <a:p>
            <a:pPr marL="0" marR="0" lvl="0" indent="0" algn="just" defTabSz="914400" rtl="0" eaLnBrk="0" fontAlgn="base" latinLnBrk="0" hangingPunct="0">
              <a:lnSpc>
                <a:spcPct val="100000"/>
              </a:lnSpc>
              <a:spcBef>
                <a:spcPct val="0"/>
              </a:spcBef>
              <a:spcAft>
                <a:spcPct val="0"/>
              </a:spcAft>
              <a:buClrTx/>
              <a:buSzTx/>
              <a:buFontTx/>
              <a:buNone/>
            </a:pPr>
            <a:endParaRPr lang="en-US" sz="2200" b="1" dirty="0">
              <a:latin typeface="Calibri" panose="020F0502020204030204" charset="0"/>
              <a:cs typeface="Calibri" panose="020F0502020204030204"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sz="2400" dirty="0">
                <a:latin typeface="Calibri" panose="020F0502020204030204" charset="0"/>
                <a:cs typeface="Calibri" panose="020F0502020204030204" charset="0"/>
              </a:rPr>
              <a:t>The system shall securely store user data by encrypting passwords.</a:t>
            </a:r>
          </a:p>
          <a:p>
            <a:pPr lvl="0" algn="just" eaLnBrk="0" fontAlgn="base" hangingPunct="0">
              <a:lnSpc>
                <a:spcPct val="100000"/>
              </a:lnSpc>
              <a:spcBef>
                <a:spcPct val="0"/>
              </a:spcBef>
              <a:spcAft>
                <a:spcPct val="0"/>
              </a:spcAft>
              <a:buFont typeface="Wingdings" panose="05000000000000000000" pitchFamily="2" charset="2"/>
              <a:buChar char="Ø"/>
            </a:pPr>
            <a:r>
              <a:rPr lang="en-US" altLang="en-US" sz="2400" dirty="0">
                <a:latin typeface="Calibri" panose="020F0502020204030204" charset="0"/>
                <a:cs typeface="Calibri" panose="020F0502020204030204" charset="0"/>
              </a:rPr>
              <a:t>The system shall ensure that only authorized users (such as admins) can access sensitive features using role-based access control.</a:t>
            </a:r>
            <a:endParaRPr kumimoji="0" lang="en-US" altLang="en-US" sz="2400" b="0" i="0" u="none" strike="noStrike" cap="none" normalizeH="0" baseline="0" dirty="0">
              <a:ln>
                <a:noFill/>
              </a:ln>
              <a:solidFill>
                <a:schemeClr val="tx1"/>
              </a:solidFill>
              <a:effectLst/>
              <a:latin typeface="Calibri" panose="020F0502020204030204" charset="0"/>
              <a:cs typeface="Calibri" panose="020F0502020204030204" charset="0"/>
            </a:endParaRPr>
          </a:p>
        </p:txBody>
      </p:sp>
      <p:pic>
        <p:nvPicPr>
          <p:cNvPr id="7" name="Picture 6"/>
          <p:cNvPicPr>
            <a:picLocks noChangeAspect="1"/>
          </p:cNvPicPr>
          <p:nvPr/>
        </p:nvPicPr>
        <p:blipFill>
          <a:blip r:embed="rId2"/>
          <a:stretch>
            <a:fillRect/>
          </a:stretch>
        </p:blipFill>
        <p:spPr>
          <a:xfrm>
            <a:off x="8898255" y="233679"/>
            <a:ext cx="3100070" cy="5886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844C8-A321-63D0-BCC5-68CA74DD0AE2}"/>
              </a:ext>
            </a:extLst>
          </p:cNvPr>
          <p:cNvSpPr>
            <a:spLocks noGrp="1"/>
          </p:cNvSpPr>
          <p:nvPr>
            <p:ph type="title"/>
          </p:nvPr>
        </p:nvSpPr>
        <p:spPr>
          <a:xfrm>
            <a:off x="143111" y="63492"/>
            <a:ext cx="5464588" cy="694110"/>
          </a:xfrm>
          <a:solidFill>
            <a:schemeClr val="bg1"/>
          </a:solidFill>
        </p:spPr>
        <p:txBody>
          <a:bodyPr>
            <a:noAutofit/>
          </a:bodyPr>
          <a:lstStyle/>
          <a:p>
            <a:pPr algn="ctr"/>
            <a:r>
              <a:rPr lang="en-US" sz="4800" b="1" dirty="0">
                <a:latin typeface="Bookman Old Style" panose="02050604050505020204" pitchFamily="18" charset="0"/>
              </a:rPr>
              <a:t>Scrum Roles </a:t>
            </a:r>
          </a:p>
        </p:txBody>
      </p:sp>
      <p:graphicFrame>
        <p:nvGraphicFramePr>
          <p:cNvPr id="4" name="Table 3">
            <a:extLst>
              <a:ext uri="{FF2B5EF4-FFF2-40B4-BE49-F238E27FC236}">
                <a16:creationId xmlns:a16="http://schemas.microsoft.com/office/drawing/2014/main" id="{8BD3A706-6CCE-0728-F2D6-8C29DF12EA34}"/>
              </a:ext>
            </a:extLst>
          </p:cNvPr>
          <p:cNvGraphicFramePr>
            <a:graphicFrameLocks noGrp="1"/>
          </p:cNvGraphicFramePr>
          <p:nvPr>
            <p:extLst>
              <p:ext uri="{D42A27DB-BD31-4B8C-83A1-F6EECF244321}">
                <p14:modId xmlns:p14="http://schemas.microsoft.com/office/powerpoint/2010/main" val="4235524472"/>
              </p:ext>
            </p:extLst>
          </p:nvPr>
        </p:nvGraphicFramePr>
        <p:xfrm>
          <a:off x="65314" y="830425"/>
          <a:ext cx="11983575" cy="5664263"/>
        </p:xfrm>
        <a:graphic>
          <a:graphicData uri="http://schemas.openxmlformats.org/drawingml/2006/table">
            <a:tbl>
              <a:tblPr firstRow="1" bandRow="1">
                <a:tableStyleId>{5C22544A-7EE6-4342-B048-85BDC9FD1C3A}</a:tableStyleId>
              </a:tblPr>
              <a:tblGrid>
                <a:gridCol w="2241166">
                  <a:extLst>
                    <a:ext uri="{9D8B030D-6E8A-4147-A177-3AD203B41FA5}">
                      <a16:colId xmlns:a16="http://schemas.microsoft.com/office/drawing/2014/main" val="3642593525"/>
                    </a:ext>
                  </a:extLst>
                </a:gridCol>
                <a:gridCol w="1876977">
                  <a:extLst>
                    <a:ext uri="{9D8B030D-6E8A-4147-A177-3AD203B41FA5}">
                      <a16:colId xmlns:a16="http://schemas.microsoft.com/office/drawing/2014/main" val="2796303295"/>
                    </a:ext>
                  </a:extLst>
                </a:gridCol>
                <a:gridCol w="7865432">
                  <a:extLst>
                    <a:ext uri="{9D8B030D-6E8A-4147-A177-3AD203B41FA5}">
                      <a16:colId xmlns:a16="http://schemas.microsoft.com/office/drawing/2014/main" val="3366242246"/>
                    </a:ext>
                  </a:extLst>
                </a:gridCol>
              </a:tblGrid>
              <a:tr h="381776">
                <a:tc>
                  <a:txBody>
                    <a:bodyPr/>
                    <a:lstStyle/>
                    <a:p>
                      <a:r>
                        <a:rPr lang="en-US" dirty="0">
                          <a:solidFill>
                            <a:schemeClr val="tx1"/>
                          </a:solidFill>
                        </a:rPr>
                        <a:t>Name </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40000"/>
                        <a:lumOff val="60000"/>
                      </a:schemeClr>
                    </a:solidFill>
                  </a:tcPr>
                </a:tc>
                <a:tc>
                  <a:txBody>
                    <a:bodyPr/>
                    <a:lstStyle/>
                    <a:p>
                      <a:r>
                        <a:rPr lang="en-US" dirty="0">
                          <a:solidFill>
                            <a:schemeClr val="tx1"/>
                          </a:solidFill>
                        </a:rPr>
                        <a:t>Scrum Role</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40000"/>
                        <a:lumOff val="60000"/>
                      </a:schemeClr>
                    </a:solidFill>
                  </a:tcPr>
                </a:tc>
                <a:tc>
                  <a:txBody>
                    <a:bodyPr/>
                    <a:lstStyle/>
                    <a:p>
                      <a:r>
                        <a:rPr lang="en-US" dirty="0">
                          <a:solidFill>
                            <a:schemeClr val="tx1"/>
                          </a:solidFill>
                        </a:rPr>
                        <a:t>Responsibilities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40000"/>
                        <a:lumOff val="60000"/>
                      </a:schemeClr>
                    </a:solidFill>
                  </a:tcPr>
                </a:tc>
                <a:extLst>
                  <a:ext uri="{0D108BD9-81ED-4DB2-BD59-A6C34878D82A}">
                    <a16:rowId xmlns:a16="http://schemas.microsoft.com/office/drawing/2014/main" val="4105703518"/>
                  </a:ext>
                </a:extLst>
              </a:tr>
              <a:tr h="560615">
                <a:tc>
                  <a:txBody>
                    <a:bodyPr/>
                    <a:lstStyle/>
                    <a:p>
                      <a:r>
                        <a:rPr lang="en-US" dirty="0"/>
                        <a:t>Nagaraj B M </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Product Owner</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Defines the project vision and sets priorities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543329164"/>
                  </a:ext>
                </a:extLst>
              </a:tr>
              <a:tr h="287383">
                <a:tc>
                  <a:txBody>
                    <a:bodyPr/>
                    <a:lstStyle/>
                    <a:p>
                      <a:r>
                        <a:rPr lang="en-US" sz="1600" dirty="0">
                          <a:latin typeface="+mn-lt"/>
                          <a:ea typeface="Calibri"/>
                          <a:cs typeface="Calibri"/>
                        </a:rPr>
                        <a:t>Dr P G Sunitha Hiremath</a:t>
                      </a:r>
                      <a:endParaRPr lang="en-US" sz="1600" dirty="0">
                        <a:latin typeface="+mn-lt"/>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Scrum Master</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Facilitates sprint activates and ensures smooth co-ordination among team </a:t>
                      </a:r>
                    </a:p>
                    <a:p>
                      <a:endParaRPr lang="en-US" dirty="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022778839"/>
                  </a:ext>
                </a:extLst>
              </a:tr>
              <a:tr h="381776">
                <a:tc gridSpan="3">
                  <a:txBody>
                    <a:bodyPr/>
                    <a:lstStyle/>
                    <a:p>
                      <a:pPr lvl="0">
                        <a:buNone/>
                      </a:pPr>
                      <a:r>
                        <a:rPr lang="en-US" dirty="0"/>
                        <a:t>Team Members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hMerge="1">
                  <a:txBody>
                    <a:bodyPr/>
                    <a:lstStyle/>
                    <a:p>
                      <a:endParaRPr lang="en-US"/>
                    </a:p>
                  </a:txBody>
                  <a:tcPr>
                    <a:lnL w="0">
                      <a:noFill/>
                    </a:lnL>
                    <a:lnR w="0">
                      <a:noFill/>
                    </a:lnR>
                    <a:lnT w="0">
                      <a:noFill/>
                    </a:lnT>
                    <a:lnB w="0">
                      <a:noFill/>
                    </a:lnB>
                    <a:solidFill>
                      <a:schemeClr val="bg1">
                        <a:lumMod val="85000"/>
                      </a:schemeClr>
                    </a:solidFill>
                  </a:tcPr>
                </a:tc>
                <a:tc hMerge="1">
                  <a:txBody>
                    <a:bodyPr/>
                    <a:lstStyle/>
                    <a:p>
                      <a:endParaRPr lang="en-US"/>
                    </a:p>
                  </a:txBody>
                  <a:tcPr>
                    <a:lnL w="0">
                      <a:noFill/>
                    </a:lnL>
                    <a:lnR w="0">
                      <a:noFill/>
                    </a:lnR>
                    <a:lnT w="0">
                      <a:noFill/>
                    </a:lnT>
                    <a:lnB w="0">
                      <a:noFill/>
                    </a:lnB>
                    <a:solidFill>
                      <a:schemeClr val="bg1">
                        <a:lumMod val="85000"/>
                      </a:schemeClr>
                    </a:solidFill>
                  </a:tcPr>
                </a:tc>
                <a:extLst>
                  <a:ext uri="{0D108BD9-81ED-4DB2-BD59-A6C34878D82A}">
                    <a16:rowId xmlns:a16="http://schemas.microsoft.com/office/drawing/2014/main" val="2884714"/>
                  </a:ext>
                </a:extLst>
              </a:tr>
              <a:tr h="653302">
                <a:tc>
                  <a:txBody>
                    <a:bodyPr/>
                    <a:lstStyle/>
                    <a:p>
                      <a:r>
                        <a:rPr lang="en-US" dirty="0"/>
                        <a:t>Bhagyashri B</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UI/UX Designer</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Designs user and admin interface</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618511571"/>
                  </a:ext>
                </a:extLst>
              </a:tr>
              <a:tr h="715011">
                <a:tc>
                  <a:txBody>
                    <a:bodyPr/>
                    <a:lstStyle/>
                    <a:p>
                      <a:r>
                        <a:rPr lang="en-US" dirty="0"/>
                        <a:t>Kempanna K</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Frontend Developer </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Implements UI components such as Request Form, Admin Dashboard</a:t>
                      </a:r>
                    </a:p>
                    <a:p>
                      <a:endParaRPr lang="en-US" dirty="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450134937"/>
                  </a:ext>
                </a:extLst>
              </a:tr>
              <a:tr h="6681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Shreya P</a:t>
                      </a:r>
                    </a:p>
                    <a:p>
                      <a:pPr lvl="0">
                        <a:buNone/>
                      </a:pPr>
                      <a:endParaRPr lang="en-US" dirty="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dirty="0"/>
                        <a:t>System Architecture </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dirty="0"/>
                        <a:t>Chooses suitable technologies and tools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331807364"/>
                  </a:ext>
                </a:extLst>
              </a:tr>
              <a:tr h="730306">
                <a:tc>
                  <a:txBody>
                    <a:bodyPr/>
                    <a:lstStyle/>
                    <a:p>
                      <a:pPr algn="l"/>
                      <a:r>
                        <a:rPr lang="en-US" dirty="0"/>
                        <a:t>Nivrutti </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a:t>Backend Developer</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Develops Backend using MongoDB, Express and Node.js</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894980408"/>
                  </a:ext>
                </a:extLst>
              </a:tr>
              <a:tr h="933289">
                <a:tc>
                  <a:txBody>
                    <a:bodyPr/>
                    <a:lstStyle/>
                    <a:p>
                      <a:r>
                        <a:rPr lang="en-US" dirty="0"/>
                        <a:t>Pruthvi M</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a:t>Tester</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dirty="0"/>
                        <a:t>Conducts testing of all modules functional, integration, and system-level validation</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710178412"/>
                  </a:ext>
                </a:extLst>
              </a:tr>
            </a:tbl>
          </a:graphicData>
        </a:graphic>
      </p:graphicFrame>
      <p:pic>
        <p:nvPicPr>
          <p:cNvPr id="5" name="Picture 4" descr="kle logo.png">
            <a:extLst>
              <a:ext uri="{FF2B5EF4-FFF2-40B4-BE49-F238E27FC236}">
                <a16:creationId xmlns:a16="http://schemas.microsoft.com/office/drawing/2014/main" id="{20BC42C2-64A7-CF33-CBBA-F3C40D8889B3}"/>
              </a:ext>
            </a:extLst>
          </p:cNvPr>
          <p:cNvPicPr>
            <a:picLocks noChangeAspect="1"/>
          </p:cNvPicPr>
          <p:nvPr/>
        </p:nvPicPr>
        <p:blipFill>
          <a:blip r:embed="rId2"/>
          <a:stretch>
            <a:fillRect/>
          </a:stretch>
        </p:blipFill>
        <p:spPr>
          <a:xfrm>
            <a:off x="8953264" y="169439"/>
            <a:ext cx="3095625" cy="742950"/>
          </a:xfrm>
          <a:prstGeom prst="rect">
            <a:avLst/>
          </a:prstGeom>
        </p:spPr>
      </p:pic>
    </p:spTree>
    <p:extLst>
      <p:ext uri="{BB962C8B-B14F-4D97-AF65-F5344CB8AC3E}">
        <p14:creationId xmlns:p14="http://schemas.microsoft.com/office/powerpoint/2010/main" val="2297322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85" y="30480"/>
            <a:ext cx="12190625" cy="742950"/>
          </a:xfrm>
          <a:solidFill>
            <a:schemeClr val="bg1"/>
          </a:solidFill>
          <a:ln>
            <a:solidFill>
              <a:schemeClr val="bg1"/>
            </a:solidFill>
          </a:ln>
        </p:spPr>
        <p:txBody>
          <a:bodyPr/>
          <a:lstStyle/>
          <a:p>
            <a:r>
              <a:rPr lang="en-US" sz="4000" b="1" dirty="0">
                <a:latin typeface="Bookman Old Style" panose="02050604050505020204" pitchFamily="18" charset="0"/>
                <a:cs typeface="Bookman Old Style" panose="02050604050505020204" pitchFamily="18" charset="0"/>
              </a:rPr>
              <a:t>Spring Planning and User Stories</a:t>
            </a:r>
          </a:p>
        </p:txBody>
      </p:sp>
      <p:pic>
        <p:nvPicPr>
          <p:cNvPr id="5" name="Picture 4" descr="kle logo.png"/>
          <p:cNvPicPr>
            <a:picLocks noChangeAspect="1"/>
          </p:cNvPicPr>
          <p:nvPr/>
        </p:nvPicPr>
        <p:blipFill>
          <a:blip r:embed="rId4"/>
          <a:stretch>
            <a:fillRect/>
          </a:stretch>
        </p:blipFill>
        <p:spPr>
          <a:xfrm>
            <a:off x="9247904" y="93239"/>
            <a:ext cx="3095625" cy="742950"/>
          </a:xfrm>
          <a:prstGeom prst="rect">
            <a:avLst/>
          </a:prstGeom>
        </p:spPr>
      </p:pic>
      <p:graphicFrame>
        <p:nvGraphicFramePr>
          <p:cNvPr id="6" name="Table 5"/>
          <p:cNvGraphicFramePr>
            <a:graphicFrameLocks noGrp="1"/>
          </p:cNvGraphicFramePr>
          <p:nvPr>
            <p:custDataLst>
              <p:tags r:id="rId1"/>
            </p:custDataLst>
            <p:extLst>
              <p:ext uri="{D42A27DB-BD31-4B8C-83A1-F6EECF244321}">
                <p14:modId xmlns:p14="http://schemas.microsoft.com/office/powerpoint/2010/main" val="1413379912"/>
              </p:ext>
            </p:extLst>
          </p:nvPr>
        </p:nvGraphicFramePr>
        <p:xfrm>
          <a:off x="480695" y="1678940"/>
          <a:ext cx="10866120" cy="5085715"/>
        </p:xfrm>
        <a:graphic>
          <a:graphicData uri="http://schemas.openxmlformats.org/drawingml/2006/table">
            <a:tbl>
              <a:tblPr bandRow="1">
                <a:tableStyleId>{5C22544A-7EE6-4342-B048-85BDC9FD1C3A}</a:tableStyleId>
              </a:tblPr>
              <a:tblGrid>
                <a:gridCol w="3297555">
                  <a:extLst>
                    <a:ext uri="{9D8B030D-6E8A-4147-A177-3AD203B41FA5}">
                      <a16:colId xmlns:a16="http://schemas.microsoft.com/office/drawing/2014/main" val="20000"/>
                    </a:ext>
                  </a:extLst>
                </a:gridCol>
                <a:gridCol w="1848485">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gridCol w="4318000">
                  <a:extLst>
                    <a:ext uri="{9D8B030D-6E8A-4147-A177-3AD203B41FA5}">
                      <a16:colId xmlns:a16="http://schemas.microsoft.com/office/drawing/2014/main" val="20003"/>
                    </a:ext>
                  </a:extLst>
                </a:gridCol>
              </a:tblGrid>
              <a:tr h="374015">
                <a:tc>
                  <a:txBody>
                    <a:bodyPr/>
                    <a:lstStyle/>
                    <a:p>
                      <a:pPr algn="ctr">
                        <a:buNone/>
                      </a:pPr>
                      <a:r>
                        <a:rPr lang="en-US" sz="1600" dirty="0">
                          <a:effectLst/>
                          <a:latin typeface="Bookman Old Style" panose="02050604050505020204" pitchFamily="18" charset="0"/>
                          <a:ea typeface="ＭＳ 明朝"/>
                          <a:cs typeface="Times New Roman" panose="02020603050405020304"/>
                        </a:rPr>
                        <a:t>User Story</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5">
                        <a:lumMod val="40000"/>
                        <a:lumOff val="60000"/>
                      </a:schemeClr>
                    </a:solidFill>
                  </a:tcPr>
                </a:tc>
                <a:tc>
                  <a:txBody>
                    <a:bodyPr/>
                    <a:lstStyle/>
                    <a:p>
                      <a:pPr algn="ctr">
                        <a:buNone/>
                      </a:pPr>
                      <a:r>
                        <a:rPr lang="en-US" sz="1600" dirty="0">
                          <a:effectLst/>
                          <a:latin typeface="Bookman Old Style" panose="02050604050505020204" pitchFamily="18" charset="0"/>
                          <a:ea typeface="ＭＳ 明朝"/>
                          <a:cs typeface="Times New Roman" panose="02020603050405020304"/>
                        </a:rPr>
                        <a:t>Feature</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algn="ctr">
                        <a:buNone/>
                      </a:pPr>
                      <a:r>
                        <a:rPr lang="en-US" sz="1600">
                          <a:effectLst/>
                          <a:latin typeface="Bookman Old Style" panose="02050604050505020204" pitchFamily="18" charset="0"/>
                          <a:ea typeface="ＭＳ 明朝"/>
                          <a:cs typeface="Times New Roman" panose="02020603050405020304"/>
                        </a:rPr>
                        <a:t>Points</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algn="ctr">
                        <a:buNone/>
                      </a:pPr>
                      <a:r>
                        <a:rPr lang="en-US" sz="1600" dirty="0">
                          <a:effectLst/>
                          <a:latin typeface="Bookman Old Style" panose="02050604050505020204" pitchFamily="18" charset="0"/>
                          <a:ea typeface="ＭＳ 明朝"/>
                          <a:cs typeface="Times New Roman" panose="02020603050405020304"/>
                        </a:rPr>
                        <a:t>Acceptance Criteria</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extLst>
                  <a:ext uri="{0D108BD9-81ED-4DB2-BD59-A6C34878D82A}">
                    <a16:rowId xmlns:a16="http://schemas.microsoft.com/office/drawing/2014/main" val="10000"/>
                  </a:ext>
                </a:extLst>
              </a:tr>
              <a:tr h="1649730">
                <a:tc>
                  <a:txBody>
                    <a:bodyPr/>
                    <a:lstStyle/>
                    <a:p>
                      <a:pPr lvl="0">
                        <a:buNone/>
                      </a:pPr>
                      <a:r>
                        <a:rPr lang="en-US" sz="1700" dirty="0"/>
                        <a:t>As a dealer, I want to create an account so that I can access the portal.</a:t>
                      </a:r>
                      <a:endParaRPr lang="en-US" sz="1700" dirty="0">
                        <a:latin typeface="Bookman Old Style" panose="02050604050505020204" pitchFamily="18" charset="0"/>
                      </a:endParaRPr>
                    </a:p>
                  </a:txBody>
                  <a:tcPr marL="68580" marR="6858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700" dirty="0"/>
                        <a:t>User Authentication</a:t>
                      </a:r>
                      <a:endParaRPr lang="en-US" sz="17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700" dirty="0">
                          <a:effectLst/>
                          <a:latin typeface="Bookman Old Style" panose="02050604050505020204" pitchFamily="18" charset="0"/>
                          <a:ea typeface="ＭＳ 明朝"/>
                          <a:cs typeface="Times New Roman" panose="02020603050405020304"/>
                        </a:rPr>
                        <a:t>5</a:t>
                      </a: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dirty="0"/>
                        <a:t>Given a new dealer visits the portal, when they click registration, then form is displayed. </a:t>
                      </a:r>
                    </a:p>
                    <a:p>
                      <a:pPr>
                        <a:buNone/>
                      </a:pPr>
                      <a:r>
                        <a:rPr lang="en-US" sz="1700" dirty="0"/>
                        <a:t>Given valid details, when submitted, then account is created. </a:t>
                      </a:r>
                    </a:p>
                    <a:p>
                      <a:pPr>
                        <a:buNone/>
                      </a:pPr>
                      <a:r>
                        <a:rPr lang="en-US" sz="1700" dirty="0"/>
                        <a:t>Given invalid details, then error messages are shown.</a:t>
                      </a:r>
                      <a:endParaRPr lang="en-US" sz="17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129665">
                <a:tc>
                  <a:txBody>
                    <a:bodyPr/>
                    <a:lstStyle/>
                    <a:p>
                      <a:pPr lvl="0">
                        <a:buNone/>
                      </a:pPr>
                      <a:r>
                        <a:rPr lang="en-US" sz="1700" dirty="0"/>
                        <a:t>As a dealer, I want to log in so that I can access my dashboard. </a:t>
                      </a:r>
                      <a:endParaRPr lang="en-US" sz="1700" dirty="0">
                        <a:latin typeface="Bookman Old Style" panose="02050604050505020204" pitchFamily="18" charset="0"/>
                      </a:endParaRPr>
                    </a:p>
                  </a:txBody>
                  <a:tcPr marL="68580" marR="6858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700" dirty="0"/>
                        <a:t>User Authentication</a:t>
                      </a:r>
                      <a:endParaRPr lang="en-US" sz="1700" dirty="0">
                        <a:effectLst/>
                        <a:latin typeface="Bookman Old Style" panose="02050604050505020204" pitchFamily="18" charset="0"/>
                        <a:ea typeface="ＭＳ 明朝"/>
                        <a:cs typeface="Times New Roman" panose="02020603050405020304"/>
                      </a:endParaRPr>
                    </a:p>
                    <a:p>
                      <a:pPr algn="l">
                        <a:buNone/>
                      </a:pPr>
                      <a:endParaRPr lang="en-US" sz="17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700" dirty="0">
                          <a:effectLst/>
                          <a:latin typeface="Bookman Old Style" panose="02050604050505020204" pitchFamily="18" charset="0"/>
                          <a:ea typeface="ＭＳ 明朝"/>
                          <a:cs typeface="Times New Roman" panose="02020603050405020304"/>
                        </a:rPr>
                        <a:t>5</a:t>
                      </a: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dirty="0"/>
                        <a:t>Given a registered dealer is on login page, when correct credentials are entered, then redirect to dashboard. </a:t>
                      </a:r>
                    </a:p>
                    <a:p>
                      <a:pPr>
                        <a:buNone/>
                      </a:pPr>
                      <a:r>
                        <a:rPr lang="en-US" sz="1700" dirty="0"/>
                        <a:t>Given incorrect credentials, then error is shown.</a:t>
                      </a:r>
                      <a:endParaRPr lang="en-US" sz="1700" dirty="0">
                        <a:effectLst/>
                        <a:latin typeface="Bookman Old Style" panose="02050604050505020204" pitchFamily="18" charset="0"/>
                        <a:ea typeface="ＭＳ 明朝"/>
                        <a:cs typeface="Times New Roman" panose="02020603050405020304"/>
                      </a:endParaRPr>
                    </a:p>
                  </a:txBody>
                  <a:tcPr marL="68580" marR="68580">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75130">
                <a:tc>
                  <a:txBody>
                    <a:bodyPr/>
                    <a:lstStyle/>
                    <a:p>
                      <a:pPr lvl="0">
                        <a:buNone/>
                      </a:pPr>
                      <a:r>
                        <a:rPr lang="en-US" sz="1700" dirty="0"/>
                        <a:t>As a user, I want to see validation messages so that I can correct errors.</a:t>
                      </a:r>
                      <a:endParaRPr lang="en-US" sz="1700" dirty="0">
                        <a:latin typeface="Bookman Old Style" panose="02050604050505020204" pitchFamily="18" charset="0"/>
                      </a:endParaRPr>
                    </a:p>
                  </a:txBody>
                  <a:tcPr marL="68580" marR="68580">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buNone/>
                      </a:pPr>
                      <a:r>
                        <a:rPr lang="en-US" sz="1700" dirty="0">
                          <a:effectLst/>
                          <a:latin typeface="Bookman Old Style" panose="02050604050505020204" pitchFamily="18" charset="0"/>
                          <a:ea typeface="ＭＳ 明朝"/>
                          <a:cs typeface="Times New Roman" panose="02020603050405020304"/>
                        </a:rPr>
                        <a:t>User Authentication</a:t>
                      </a:r>
                    </a:p>
                  </a:txBody>
                  <a:tcPr marL="68580" marR="68580">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ctr">
                        <a:buNone/>
                      </a:pPr>
                      <a:r>
                        <a:rPr lang="en-US" sz="1700" dirty="0">
                          <a:effectLst/>
                          <a:latin typeface="Bookman Old Style" panose="02050604050505020204" pitchFamily="18" charset="0"/>
                          <a:ea typeface="ＭＳ 明朝"/>
                          <a:cs typeface="Times New Roman" panose="02020603050405020304"/>
                        </a:rPr>
                        <a:t>3</a:t>
                      </a:r>
                    </a:p>
                  </a:txBody>
                  <a:tcPr marL="68580" marR="68580">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1700" dirty="0"/>
                        <a:t>Given invalid input, when form is submitted, then validation errors are displayed.</a:t>
                      </a:r>
                    </a:p>
                    <a:p>
                      <a:pPr lvl="0" algn="l">
                        <a:lnSpc>
                          <a:spcPct val="100000"/>
                        </a:lnSpc>
                        <a:spcBef>
                          <a:spcPts val="0"/>
                        </a:spcBef>
                        <a:spcAft>
                          <a:spcPts val="0"/>
                        </a:spcAft>
                        <a:buNone/>
                      </a:pPr>
                      <a:r>
                        <a:rPr lang="en-US" sz="1700" dirty="0"/>
                        <a:t>Given empty fields, then system prompts to fill them.</a:t>
                      </a:r>
                      <a:endParaRPr lang="en-US" sz="1700" b="0" i="0" u="none" strike="noStrike" noProof="0" dirty="0">
                        <a:effectLst/>
                        <a:latin typeface="Bookman Old Style" panose="02050604050505020204" pitchFamily="18" charset="0"/>
                      </a:endParaRPr>
                    </a:p>
                  </a:txBody>
                  <a:tcPr marL="68580" marR="68580">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0003"/>
                  </a:ext>
                </a:extLst>
              </a:tr>
            </a:tbl>
          </a:graphicData>
        </a:graphic>
      </p:graphicFrame>
      <p:sp>
        <p:nvSpPr>
          <p:cNvPr id="3" name="TextBox 2"/>
          <p:cNvSpPr txBox="1"/>
          <p:nvPr/>
        </p:nvSpPr>
        <p:spPr>
          <a:xfrm>
            <a:off x="311785" y="724833"/>
            <a:ext cx="11568430" cy="954107"/>
          </a:xfrm>
          <a:prstGeom prst="rect">
            <a:avLst/>
          </a:prstGeom>
          <a:noFill/>
        </p:spPr>
        <p:txBody>
          <a:bodyPr wrap="square" rtlCol="0">
            <a:spAutoFit/>
          </a:bodyPr>
          <a:lstStyle/>
          <a:p>
            <a:r>
              <a:rPr lang="en-US" sz="2800" b="1" dirty="0">
                <a:latin typeface="Bookman Old Style" panose="02050604050505020204" pitchFamily="18" charset="0"/>
                <a:cs typeface="Bookman Old Style" panose="02050604050505020204" pitchFamily="18" charset="0"/>
              </a:rPr>
              <a:t>Epic 1: Authentication and Catalog </a:t>
            </a:r>
          </a:p>
          <a:p>
            <a:r>
              <a:rPr lang="en-US" sz="2800" b="1" dirty="0">
                <a:latin typeface="Bookman Old Style" panose="02050604050505020204" pitchFamily="18" charset="0"/>
                <a:cs typeface="Bookman Old Style" panose="02050604050505020204" pitchFamily="18" charset="0"/>
              </a:rPr>
              <a:t>Sprint 1: User Authentication</a:t>
            </a:r>
            <a:endParaRPr lang="en-IN" sz="2800" b="1" dirty="0">
              <a:latin typeface="Bookman Old Style" panose="02050604050505020204" pitchFamily="18" charset="0"/>
              <a:cs typeface="Bookman Old Style" panose="0205060405050502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D1B42-42C1-A0FB-4DCC-884226DF2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2FD77-C869-B19D-0546-2594D5F8EEB1}"/>
              </a:ext>
            </a:extLst>
          </p:cNvPr>
          <p:cNvSpPr>
            <a:spLocks noGrp="1"/>
          </p:cNvSpPr>
          <p:nvPr>
            <p:ph type="title"/>
          </p:nvPr>
        </p:nvSpPr>
        <p:spPr>
          <a:xfrm>
            <a:off x="-6177" y="1287"/>
            <a:ext cx="12190625" cy="834960"/>
          </a:xfrm>
          <a:solidFill>
            <a:schemeClr val="bg1"/>
          </a:solidFill>
        </p:spPr>
        <p:txBody>
          <a:bodyPr/>
          <a:lstStyle/>
          <a:p>
            <a:r>
              <a:rPr lang="en-US" b="1" dirty="0">
                <a:latin typeface="Bookman Old Style" panose="02050604050505020204" pitchFamily="18" charset="0"/>
              </a:rPr>
              <a:t>	 Scrum Table</a:t>
            </a:r>
          </a:p>
        </p:txBody>
      </p:sp>
      <p:pic>
        <p:nvPicPr>
          <p:cNvPr id="5" name="Picture 4" descr="kle logo.png">
            <a:extLst>
              <a:ext uri="{FF2B5EF4-FFF2-40B4-BE49-F238E27FC236}">
                <a16:creationId xmlns:a16="http://schemas.microsoft.com/office/drawing/2014/main" id="{BB2AB763-B803-2FE4-9984-A341A128A168}"/>
              </a:ext>
            </a:extLst>
          </p:cNvPr>
          <p:cNvPicPr>
            <a:picLocks noChangeAspect="1"/>
          </p:cNvPicPr>
          <p:nvPr/>
        </p:nvPicPr>
        <p:blipFill>
          <a:blip r:embed="rId3"/>
          <a:stretch>
            <a:fillRect/>
          </a:stretch>
        </p:blipFill>
        <p:spPr>
          <a:xfrm>
            <a:off x="8953264" y="169439"/>
            <a:ext cx="3095625" cy="742950"/>
          </a:xfrm>
          <a:prstGeom prst="rect">
            <a:avLst/>
          </a:prstGeom>
        </p:spPr>
      </p:pic>
      <p:graphicFrame>
        <p:nvGraphicFramePr>
          <p:cNvPr id="6" name="Table 5">
            <a:extLst>
              <a:ext uri="{FF2B5EF4-FFF2-40B4-BE49-F238E27FC236}">
                <a16:creationId xmlns:a16="http://schemas.microsoft.com/office/drawing/2014/main" id="{E6B287F6-11D0-E500-764F-D69E00341F2E}"/>
              </a:ext>
            </a:extLst>
          </p:cNvPr>
          <p:cNvGraphicFramePr>
            <a:graphicFrameLocks noGrp="1"/>
          </p:cNvGraphicFramePr>
          <p:nvPr/>
        </p:nvGraphicFramePr>
        <p:xfrm>
          <a:off x="1290320" y="1249680"/>
          <a:ext cx="10027920" cy="5108973"/>
        </p:xfrm>
        <a:graphic>
          <a:graphicData uri="http://schemas.openxmlformats.org/drawingml/2006/table">
            <a:tbl>
              <a:tblPr bandRow="1">
                <a:tableStyleId>{5C22544A-7EE6-4342-B048-85BDC9FD1C3A}</a:tableStyleId>
              </a:tblPr>
              <a:tblGrid>
                <a:gridCol w="3414729">
                  <a:extLst>
                    <a:ext uri="{9D8B030D-6E8A-4147-A177-3AD203B41FA5}">
                      <a16:colId xmlns:a16="http://schemas.microsoft.com/office/drawing/2014/main" val="836185253"/>
                    </a:ext>
                  </a:extLst>
                </a:gridCol>
                <a:gridCol w="3585465">
                  <a:extLst>
                    <a:ext uri="{9D8B030D-6E8A-4147-A177-3AD203B41FA5}">
                      <a16:colId xmlns:a16="http://schemas.microsoft.com/office/drawing/2014/main" val="1231702200"/>
                    </a:ext>
                  </a:extLst>
                </a:gridCol>
                <a:gridCol w="3027726">
                  <a:extLst>
                    <a:ext uri="{9D8B030D-6E8A-4147-A177-3AD203B41FA5}">
                      <a16:colId xmlns:a16="http://schemas.microsoft.com/office/drawing/2014/main" val="2700670666"/>
                    </a:ext>
                  </a:extLst>
                </a:gridCol>
              </a:tblGrid>
              <a:tr h="353662">
                <a:tc>
                  <a:txBody>
                    <a:bodyPr/>
                    <a:lstStyle/>
                    <a:p>
                      <a:pPr algn="ctr">
                        <a:buNone/>
                      </a:pPr>
                      <a:r>
                        <a:rPr lang="en-US" sz="1600" dirty="0">
                          <a:effectLst/>
                          <a:latin typeface="Bookman Old Style" panose="02050604050505020204" pitchFamily="18" charset="0"/>
                          <a:ea typeface="ＭＳ 明朝"/>
                          <a:cs typeface="Times New Roman"/>
                        </a:rPr>
                        <a:t>To Do</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algn="ctr">
                        <a:buNone/>
                      </a:pPr>
                      <a:r>
                        <a:rPr lang="en-US" sz="1600" dirty="0">
                          <a:effectLst/>
                          <a:latin typeface="Bookman Old Style" panose="02050604050505020204" pitchFamily="18" charset="0"/>
                          <a:ea typeface="ＭＳ 明朝"/>
                          <a:cs typeface="Times New Roman"/>
                        </a:rPr>
                        <a:t>In Progress</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algn="ctr">
                        <a:buNone/>
                      </a:pPr>
                      <a:r>
                        <a:rPr lang="en-US" sz="1600" dirty="0">
                          <a:effectLst/>
                          <a:latin typeface="Bookman Old Style" panose="02050604050505020204" pitchFamily="18" charset="0"/>
                          <a:ea typeface="ＭＳ 明朝"/>
                          <a:cs typeface="Times New Roman"/>
                        </a:rPr>
                        <a:t>Done</a:t>
                      </a:r>
                    </a:p>
                  </a:txBody>
                  <a:tcPr marL="68580" marR="68580">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extLst>
                  <a:ext uri="{0D108BD9-81ED-4DB2-BD59-A6C34878D82A}">
                    <a16:rowId xmlns:a16="http://schemas.microsoft.com/office/drawing/2014/main" val="2524295373"/>
                  </a:ext>
                </a:extLst>
              </a:tr>
              <a:tr h="1291826">
                <a:tc>
                  <a:txBody>
                    <a:bodyPr/>
                    <a:lstStyle/>
                    <a:p>
                      <a:pPr algn="l">
                        <a:buNone/>
                      </a:pPr>
                      <a:r>
                        <a:rPr lang="en-US" sz="2000" dirty="0"/>
                        <a:t>Product Listing </a:t>
                      </a:r>
                    </a:p>
                    <a:p>
                      <a:pPr algn="l">
                        <a:buNone/>
                      </a:pPr>
                      <a:r>
                        <a:rPr lang="en-US" sz="2000" dirty="0"/>
                        <a:t>Product Categorization Product Detail View</a:t>
                      </a:r>
                      <a:endParaRPr lang="en-US" sz="2000" dirty="0">
                        <a:effectLst/>
                        <a:latin typeface="Bookman Old Style" panose="02050604050505020204" pitchFamily="18" charset="0"/>
                        <a:ea typeface="ＭＳ 明朝"/>
                        <a:cs typeface="Times New Roman"/>
                      </a:endParaRPr>
                    </a:p>
                    <a:p>
                      <a:pPr lvl="0">
                        <a:buNone/>
                      </a:pPr>
                      <a:endParaRPr lang="en-US" sz="2000" dirty="0">
                        <a:latin typeface="Bookman Old Style" panose="02050604050505020204" pitchFamily="18" charset="0"/>
                      </a:endParaRPr>
                    </a:p>
                  </a:txBody>
                  <a:tcPr marL="68580" marR="6858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2000" dirty="0">
                        <a:effectLst/>
                        <a:latin typeface="Bookman Old Style" panose="02050604050505020204" pitchFamily="18" charset="0"/>
                        <a:ea typeface="ＭＳ 明朝"/>
                        <a:cs typeface="Times New Roman"/>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Dealer Registration </a:t>
                      </a:r>
                    </a:p>
                    <a:p>
                      <a:pPr algn="ctr">
                        <a:buNone/>
                      </a:pPr>
                      <a:r>
                        <a:rPr lang="en-IN" sz="2000" dirty="0"/>
                        <a:t>Dealer Login </a:t>
                      </a:r>
                    </a:p>
                    <a:p>
                      <a:pPr algn="ctr">
                        <a:buNone/>
                      </a:pPr>
                      <a:r>
                        <a:rPr lang="en-IN" sz="2000" dirty="0"/>
                        <a:t>Input Validation &amp; Error Handling</a:t>
                      </a:r>
                      <a:endParaRPr lang="en-US" sz="2000" dirty="0">
                        <a:effectLst/>
                        <a:latin typeface="Bookman Old Style" panose="02050604050505020204" pitchFamily="18" charset="0"/>
                        <a:ea typeface="ＭＳ 明朝"/>
                        <a:cs typeface="Times New Roman"/>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285501"/>
                  </a:ext>
                </a:extLst>
              </a:tr>
              <a:tr h="1030630">
                <a:tc>
                  <a:txBody>
                    <a:bodyPr/>
                    <a:lstStyle/>
                    <a:p>
                      <a:pPr lvl="0">
                        <a:buNone/>
                      </a:pPr>
                      <a:r>
                        <a:rPr lang="en-US" sz="2000" dirty="0"/>
                        <a:t>Search by Name </a:t>
                      </a:r>
                    </a:p>
                    <a:p>
                      <a:pPr lvl="0">
                        <a:buNone/>
                      </a:pPr>
                      <a:r>
                        <a:rPr lang="en-US" sz="2000" dirty="0"/>
                        <a:t>Search by Brand </a:t>
                      </a:r>
                    </a:p>
                    <a:p>
                      <a:pPr lvl="0">
                        <a:buNone/>
                      </a:pPr>
                      <a:r>
                        <a:rPr lang="en-US" sz="2000" dirty="0"/>
                        <a:t>Filter by Category</a:t>
                      </a:r>
                      <a:endParaRPr lang="en-US" sz="2000" dirty="0">
                        <a:latin typeface="Bookman Old Style" panose="02050604050505020204" pitchFamily="18" charset="0"/>
                      </a:endParaRPr>
                    </a:p>
                  </a:txBody>
                  <a:tcPr marL="68580" marR="6858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2000" dirty="0">
                        <a:effectLst/>
                        <a:latin typeface="Bookman Old Style" panose="02050604050505020204" pitchFamily="18" charset="0"/>
                        <a:ea typeface="ＭＳ 明朝"/>
                        <a:cs typeface="Times New Roman"/>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US" sz="2000" dirty="0">
                        <a:effectLst/>
                        <a:latin typeface="Bookman Old Style" panose="02050604050505020204" pitchFamily="18" charset="0"/>
                        <a:ea typeface="ＭＳ 明朝"/>
                        <a:cs typeface="Times New Roman"/>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9092796"/>
                  </a:ext>
                </a:extLst>
              </a:tr>
              <a:tr h="1124199">
                <a:tc>
                  <a:txBody>
                    <a:bodyPr/>
                    <a:lstStyle/>
                    <a:p>
                      <a:pPr lvl="0">
                        <a:buNone/>
                      </a:pPr>
                      <a:r>
                        <a:rPr lang="en-US" sz="2000" dirty="0"/>
                        <a:t>Enquiry Form </a:t>
                      </a:r>
                    </a:p>
                    <a:p>
                      <a:pPr lvl="0">
                        <a:buNone/>
                      </a:pPr>
                      <a:r>
                        <a:rPr lang="en-US" sz="2000" dirty="0"/>
                        <a:t>Order Submission </a:t>
                      </a:r>
                    </a:p>
                    <a:p>
                      <a:pPr lvl="0">
                        <a:buNone/>
                      </a:pPr>
                      <a:r>
                        <a:rPr lang="en-US" sz="2000" dirty="0"/>
                        <a:t>Request Dashboard</a:t>
                      </a:r>
                      <a:endParaRPr lang="en-US" sz="2000" dirty="0">
                        <a:latin typeface="Bookman Old Style" panose="02050604050505020204" pitchFamily="18" charset="0"/>
                      </a:endParaRPr>
                    </a:p>
                  </a:txBody>
                  <a:tcPr marL="68580" marR="6858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buNone/>
                      </a:pPr>
                      <a:endParaRPr lang="en-US" sz="2000" dirty="0">
                        <a:effectLst/>
                        <a:latin typeface="Bookman Old Style" panose="02050604050505020204" pitchFamily="18" charset="0"/>
                        <a:ea typeface="ＭＳ 明朝"/>
                        <a:cs typeface="Times New Roman"/>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endParaRPr lang="en-US" sz="2000" dirty="0">
                        <a:effectLst/>
                        <a:latin typeface="Bookman Old Style" panose="02050604050505020204" pitchFamily="18" charset="0"/>
                        <a:ea typeface="ＭＳ 明朝"/>
                        <a:cs typeface="Times New Roman"/>
                      </a:endParaRPr>
                    </a:p>
                  </a:txBody>
                  <a:tcPr marL="68580" marR="68580">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9090355"/>
                  </a:ext>
                </a:extLst>
              </a:tr>
              <a:tr h="1289842">
                <a:tc>
                  <a:txBody>
                    <a:bodyPr/>
                    <a:lstStyle/>
                    <a:p>
                      <a:pPr lvl="0">
                        <a:buNone/>
                      </a:pPr>
                      <a:r>
                        <a:rPr lang="en-US" sz="2000" dirty="0"/>
                        <a:t>Add Product </a:t>
                      </a:r>
                    </a:p>
                    <a:p>
                      <a:pPr lvl="0">
                        <a:buNone/>
                      </a:pPr>
                      <a:r>
                        <a:rPr lang="en-US" sz="2000" dirty="0"/>
                        <a:t>Edit Product </a:t>
                      </a:r>
                    </a:p>
                    <a:p>
                      <a:pPr lvl="0">
                        <a:buNone/>
                      </a:pPr>
                      <a:r>
                        <a:rPr lang="en-US" sz="2000" dirty="0"/>
                        <a:t>Delete Product</a:t>
                      </a:r>
                      <a:endParaRPr lang="en-US" sz="2000" dirty="0">
                        <a:latin typeface="Bookman Old Style" panose="02050604050505020204" pitchFamily="18" charset="0"/>
                      </a:endParaRPr>
                    </a:p>
                  </a:txBody>
                  <a:tcPr marL="68580" marR="68580">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l">
                        <a:buNone/>
                      </a:pPr>
                      <a:endParaRPr lang="en-US" sz="2000" dirty="0">
                        <a:effectLst/>
                        <a:latin typeface="Bookman Old Style" panose="02050604050505020204" pitchFamily="18" charset="0"/>
                        <a:ea typeface="ＭＳ 明朝"/>
                        <a:cs typeface="Times New Roman"/>
                      </a:endParaRPr>
                    </a:p>
                  </a:txBody>
                  <a:tcPr marL="68580" marR="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noFill/>
                  </a:tcPr>
                </a:tc>
                <a:tc>
                  <a:txBody>
                    <a:bodyPr/>
                    <a:lstStyle/>
                    <a:p>
                      <a:pPr lvl="0" algn="ctr">
                        <a:buNone/>
                      </a:pPr>
                      <a:endParaRPr lang="en-US" sz="2000" dirty="0">
                        <a:effectLst/>
                        <a:latin typeface="Bookman Old Style" panose="02050604050505020204" pitchFamily="18" charset="0"/>
                        <a:ea typeface="ＭＳ 明朝"/>
                        <a:cs typeface="Times New Roman"/>
                      </a:endParaRPr>
                    </a:p>
                  </a:txBody>
                  <a:tcPr marL="68580" marR="68580">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noFill/>
                  </a:tcPr>
                </a:tc>
                <a:extLst>
                  <a:ext uri="{0D108BD9-81ED-4DB2-BD59-A6C34878D82A}">
                    <a16:rowId xmlns:a16="http://schemas.microsoft.com/office/drawing/2014/main" val="3935761281"/>
                  </a:ext>
                </a:extLst>
              </a:tr>
            </a:tbl>
          </a:graphicData>
        </a:graphic>
      </p:graphicFrame>
    </p:spTree>
    <p:extLst>
      <p:ext uri="{BB962C8B-B14F-4D97-AF65-F5344CB8AC3E}">
        <p14:creationId xmlns:p14="http://schemas.microsoft.com/office/powerpoint/2010/main" val="235161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540" y="-23573"/>
            <a:ext cx="11254740" cy="835025"/>
          </a:xfrm>
        </p:spPr>
        <p:txBody>
          <a:bodyPr>
            <a:normAutofit/>
          </a:bodyPr>
          <a:lstStyle/>
          <a:p>
            <a:r>
              <a:rPr lang="en-US" b="1" dirty="0">
                <a:latin typeface="Bookman Old Style" panose="02050604050505020204" pitchFamily="18" charset="0"/>
                <a:cs typeface="Bookman Old Style" panose="02050604050505020204" pitchFamily="18" charset="0"/>
                <a:sym typeface="+mn-ea"/>
              </a:rPr>
              <a:t>    Sustainable Development Goals</a:t>
            </a:r>
            <a:endParaRPr lang="en-US" dirty="0">
              <a:latin typeface="Bookman Old Style" panose="02050604050505020204" pitchFamily="18" charset="0"/>
              <a:cs typeface="Bookman Old Style" panose="02050604050505020204" pitchFamily="18" charset="0"/>
            </a:endParaRPr>
          </a:p>
        </p:txBody>
      </p:sp>
      <p:sp>
        <p:nvSpPr>
          <p:cNvPr id="3" name="Content Placeholder 2"/>
          <p:cNvSpPr>
            <a:spLocks noGrp="1"/>
          </p:cNvSpPr>
          <p:nvPr>
            <p:ph idx="1"/>
          </p:nvPr>
        </p:nvSpPr>
        <p:spPr>
          <a:xfrm>
            <a:off x="660918" y="927100"/>
            <a:ext cx="10515600" cy="4455160"/>
          </a:xfrm>
        </p:spPr>
        <p:txBody>
          <a:bodyPr>
            <a:noAutofit/>
          </a:bodyPr>
          <a:lstStyle/>
          <a:p>
            <a:pPr marL="0" indent="0" algn="just">
              <a:buNone/>
            </a:pPr>
            <a:r>
              <a:rPr lang="en-US" sz="2200" b="1" dirty="0">
                <a:sym typeface="+mn-ea"/>
              </a:rPr>
              <a:t>SDG 8: Decent Work and Economic Growth</a:t>
            </a:r>
            <a:endParaRPr lang="en-US" sz="2200" b="1" dirty="0"/>
          </a:p>
          <a:p>
            <a:pPr marR="0" lvl="0" algn="just" defTabSz="914400" rtl="0" eaLnBrk="0" fontAlgn="base" latinLnBrk="0" hangingPunct="0">
              <a:lnSpc>
                <a:spcPct val="130000"/>
              </a:lnSpc>
              <a:spcBef>
                <a:spcPct val="0"/>
              </a:spcBef>
              <a:spcAft>
                <a:spcPct val="0"/>
              </a:spcAft>
              <a:buClrTx/>
              <a:buSzTx/>
              <a:buFont typeface="Wingdings" panose="05000000000000000000" charset="0"/>
              <a:buChar char="Ø"/>
            </a:pPr>
            <a:r>
              <a:rPr lang="en-US" sz="2200" dirty="0">
                <a:sym typeface="+mn-ea"/>
              </a:rPr>
              <a:t>Reduces manual effort and saves time</a:t>
            </a:r>
            <a:endParaRPr lang="en-US" sz="2200" dirty="0"/>
          </a:p>
          <a:p>
            <a:pPr marR="0" lvl="0" algn="just" defTabSz="914400" rtl="0" eaLnBrk="0" fontAlgn="base" latinLnBrk="0" hangingPunct="0">
              <a:lnSpc>
                <a:spcPct val="130000"/>
              </a:lnSpc>
              <a:spcBef>
                <a:spcPct val="0"/>
              </a:spcBef>
              <a:spcAft>
                <a:spcPct val="0"/>
              </a:spcAft>
              <a:buClrTx/>
              <a:buSzTx/>
              <a:buFont typeface="Wingdings" panose="05000000000000000000" charset="0"/>
              <a:buChar char="Ø"/>
            </a:pPr>
            <a:r>
              <a:rPr lang="en-US" sz="2200" dirty="0">
                <a:sym typeface="+mn-ea"/>
              </a:rPr>
              <a:t>Makes work faster and easier for dealers and distributors</a:t>
            </a:r>
            <a:endParaRPr lang="en-US" sz="2200" dirty="0"/>
          </a:p>
          <a:p>
            <a:pPr marR="0" lvl="0" algn="just" defTabSz="914400" rtl="0" eaLnBrk="0" fontAlgn="base" latinLnBrk="0" hangingPunct="0">
              <a:lnSpc>
                <a:spcPct val="130000"/>
              </a:lnSpc>
              <a:spcBef>
                <a:spcPct val="0"/>
              </a:spcBef>
              <a:spcAft>
                <a:spcPct val="0"/>
              </a:spcAft>
              <a:buClrTx/>
              <a:buSzTx/>
              <a:buFont typeface="Wingdings" panose="05000000000000000000" charset="0"/>
              <a:buChar char="Ø"/>
            </a:pPr>
            <a:r>
              <a:rPr lang="en-US" sz="2200" dirty="0">
                <a:sym typeface="+mn-ea"/>
              </a:rPr>
              <a:t>Helps small businesses grow</a:t>
            </a:r>
            <a:endParaRPr lang="en-US" sz="2200" dirty="0"/>
          </a:p>
          <a:p>
            <a:pPr marR="0" lvl="0" algn="just" defTabSz="914400" rtl="0" eaLnBrk="0" fontAlgn="base" latinLnBrk="0" hangingPunct="0">
              <a:lnSpc>
                <a:spcPct val="130000"/>
              </a:lnSpc>
              <a:spcBef>
                <a:spcPct val="0"/>
              </a:spcBef>
              <a:spcAft>
                <a:spcPct val="0"/>
              </a:spcAft>
              <a:buClrTx/>
              <a:buSzTx/>
              <a:buFont typeface="Wingdings" panose="05000000000000000000" charset="0"/>
              <a:buChar char="Ø"/>
            </a:pPr>
            <a:r>
              <a:rPr lang="en-US" sz="2200" dirty="0">
                <a:sym typeface="+mn-ea"/>
              </a:rPr>
              <a:t>Improves overall productivity</a:t>
            </a:r>
            <a:endParaRPr lang="en-US" sz="2200" dirty="0"/>
          </a:p>
          <a:p>
            <a:pPr marL="0" indent="0" algn="just">
              <a:buNone/>
            </a:pPr>
            <a:endParaRPr lang="en-US" sz="2200" dirty="0"/>
          </a:p>
          <a:p>
            <a:pPr marL="0" indent="0" algn="just">
              <a:buNone/>
            </a:pPr>
            <a:r>
              <a:rPr lang="en-US" sz="2200" b="1" dirty="0">
                <a:sym typeface="+mn-ea"/>
              </a:rPr>
              <a:t>SDG 9: Industry, Innovation and Infrastructure</a:t>
            </a:r>
            <a:endParaRPr lang="en-US" sz="2200" b="1" dirty="0"/>
          </a:p>
          <a:p>
            <a:pPr marR="0" lvl="0" algn="just" defTabSz="914400" rtl="0" eaLnBrk="0" fontAlgn="base" latinLnBrk="0" hangingPunct="0">
              <a:lnSpc>
                <a:spcPct val="120000"/>
              </a:lnSpc>
              <a:spcBef>
                <a:spcPct val="0"/>
              </a:spcBef>
              <a:spcAft>
                <a:spcPct val="0"/>
              </a:spcAft>
              <a:buClrTx/>
              <a:buSzTx/>
              <a:buFont typeface="Wingdings" panose="05000000000000000000" charset="0"/>
              <a:buChar char="Ø"/>
            </a:pPr>
            <a:r>
              <a:rPr lang="en-US" sz="2200" dirty="0">
                <a:sym typeface="+mn-ea"/>
              </a:rPr>
              <a:t>Brings digital technology to a manual system</a:t>
            </a:r>
            <a:endParaRPr lang="en-US" sz="2200" dirty="0"/>
          </a:p>
          <a:p>
            <a:pPr marR="0" lvl="0" algn="just" defTabSz="914400" rtl="0" eaLnBrk="0" fontAlgn="base" latinLnBrk="0" hangingPunct="0">
              <a:lnSpc>
                <a:spcPct val="120000"/>
              </a:lnSpc>
              <a:spcBef>
                <a:spcPct val="0"/>
              </a:spcBef>
              <a:spcAft>
                <a:spcPct val="0"/>
              </a:spcAft>
              <a:buClrTx/>
              <a:buSzTx/>
              <a:buFont typeface="Wingdings" panose="05000000000000000000" charset="0"/>
              <a:buChar char="Ø"/>
            </a:pPr>
            <a:r>
              <a:rPr lang="en-US" sz="2200" dirty="0">
                <a:sym typeface="+mn-ea"/>
              </a:rPr>
              <a:t>Replaces phone calls with an online platform</a:t>
            </a:r>
            <a:endParaRPr lang="en-US" sz="2200" dirty="0"/>
          </a:p>
          <a:p>
            <a:pPr marR="0" lvl="0" algn="just" defTabSz="914400" rtl="0" eaLnBrk="0" fontAlgn="base" latinLnBrk="0" hangingPunct="0">
              <a:lnSpc>
                <a:spcPct val="120000"/>
              </a:lnSpc>
              <a:spcBef>
                <a:spcPct val="0"/>
              </a:spcBef>
              <a:spcAft>
                <a:spcPct val="0"/>
              </a:spcAft>
              <a:buClrTx/>
              <a:buSzTx/>
              <a:buFont typeface="Wingdings" panose="05000000000000000000" charset="0"/>
              <a:buChar char="Ø"/>
            </a:pPr>
            <a:r>
              <a:rPr lang="en-US" sz="2200" dirty="0">
                <a:sym typeface="+mn-ea"/>
              </a:rPr>
              <a:t>Improves communication between users</a:t>
            </a:r>
            <a:endParaRPr lang="en-US" sz="2200" dirty="0"/>
          </a:p>
          <a:p>
            <a:pPr marR="0" lvl="0" algn="just" defTabSz="914400" rtl="0" eaLnBrk="0" fontAlgn="base" latinLnBrk="0" hangingPunct="0">
              <a:lnSpc>
                <a:spcPct val="120000"/>
              </a:lnSpc>
              <a:spcBef>
                <a:spcPct val="0"/>
              </a:spcBef>
              <a:spcAft>
                <a:spcPct val="0"/>
              </a:spcAft>
              <a:buClrTx/>
              <a:buSzTx/>
              <a:buFont typeface="Wingdings" panose="05000000000000000000" charset="0"/>
              <a:buChar char="Ø"/>
            </a:pPr>
            <a:r>
              <a:rPr lang="en-US" sz="2200" dirty="0">
                <a:sym typeface="+mn-ea"/>
              </a:rPr>
              <a:t>Supports modern business operations</a:t>
            </a:r>
            <a:endParaRPr lang="en-US" sz="2200" dirty="0"/>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200" b="0" i="0" u="none" strike="noStrike" cap="none" normalizeH="0" baseline="0" dirty="0">
              <a:ln>
                <a:noFill/>
              </a:ln>
              <a:solidFill>
                <a:schemeClr val="tx1"/>
              </a:solidFill>
              <a:effectLst/>
              <a:latin typeface="Calibri" panose="020F0502020204030204" charset="0"/>
              <a:cs typeface="Calibri" panose="020F0502020204030204" charset="0"/>
            </a:endParaRPr>
          </a:p>
        </p:txBody>
      </p:sp>
      <p:pic>
        <p:nvPicPr>
          <p:cNvPr id="7" name="Picture 6"/>
          <p:cNvPicPr>
            <a:picLocks noChangeAspect="1"/>
          </p:cNvPicPr>
          <p:nvPr/>
        </p:nvPicPr>
        <p:blipFill>
          <a:blip r:embed="rId2"/>
          <a:stretch>
            <a:fillRect/>
          </a:stretch>
        </p:blipFill>
        <p:spPr>
          <a:xfrm>
            <a:off x="9229414" y="92075"/>
            <a:ext cx="3100070" cy="588645"/>
          </a:xfrm>
          <a:prstGeom prst="rect">
            <a:avLst/>
          </a:prstGeom>
        </p:spPr>
      </p:pic>
      <p:pic>
        <p:nvPicPr>
          <p:cNvPr id="1030" name="Picture 6" descr="Goal 8 | Department of Economic and Social Affairs">
            <a:extLst>
              <a:ext uri="{FF2B5EF4-FFF2-40B4-BE49-F238E27FC236}">
                <a16:creationId xmlns:a16="http://schemas.microsoft.com/office/drawing/2014/main" id="{8A5AEE14-EF1B-B11E-FEE8-F2CD821CBA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5797" y="811452"/>
            <a:ext cx="2334403" cy="233440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ustainable Development Goal 9: Industry, Innovation and Infrastructure">
            <a:extLst>
              <a:ext uri="{FF2B5EF4-FFF2-40B4-BE49-F238E27FC236}">
                <a16:creationId xmlns:a16="http://schemas.microsoft.com/office/drawing/2014/main" id="{2091880E-A616-1F0A-4D34-2EAEDAD0692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55797" y="3596497"/>
            <a:ext cx="2334403" cy="23344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F04AA-D2D2-715B-FAF2-94D178D85C4C}"/>
              </a:ext>
            </a:extLst>
          </p:cNvPr>
          <p:cNvSpPr>
            <a:spLocks noGrp="1"/>
          </p:cNvSpPr>
          <p:nvPr>
            <p:ph type="title"/>
          </p:nvPr>
        </p:nvSpPr>
        <p:spPr>
          <a:xfrm>
            <a:off x="718457" y="62523"/>
            <a:ext cx="10635343" cy="820615"/>
          </a:xfrm>
        </p:spPr>
        <p:txBody>
          <a:bodyPr>
            <a:normAutofit/>
          </a:bodyPr>
          <a:lstStyle/>
          <a:p>
            <a:r>
              <a:rPr lang="en-US" sz="4800" b="1" dirty="0">
                <a:latin typeface="Bookman Old Style" panose="02050604050505020204" pitchFamily="18" charset="0"/>
              </a:rPr>
              <a:t>Home Page and Layout Designs</a:t>
            </a:r>
            <a:endParaRPr lang="en-IN" sz="4800" b="1" dirty="0">
              <a:latin typeface="Bookman Old Style" panose="02050604050505020204" pitchFamily="18" charset="0"/>
            </a:endParaRPr>
          </a:p>
        </p:txBody>
      </p:sp>
      <p:pic>
        <p:nvPicPr>
          <p:cNvPr id="5" name="Content Placeholder 4">
            <a:extLst>
              <a:ext uri="{FF2B5EF4-FFF2-40B4-BE49-F238E27FC236}">
                <a16:creationId xmlns:a16="http://schemas.microsoft.com/office/drawing/2014/main" id="{1A86CAAC-F92B-FB80-10AE-1C745426F507}"/>
              </a:ext>
            </a:extLst>
          </p:cNvPr>
          <p:cNvPicPr>
            <a:picLocks noGrp="1" noChangeAspect="1"/>
          </p:cNvPicPr>
          <p:nvPr>
            <p:ph idx="1"/>
          </p:nvPr>
        </p:nvPicPr>
        <p:blipFill>
          <a:blip r:embed="rId2"/>
          <a:stretch>
            <a:fillRect/>
          </a:stretch>
        </p:blipFill>
        <p:spPr>
          <a:xfrm>
            <a:off x="117230" y="1093178"/>
            <a:ext cx="5569131" cy="2833563"/>
          </a:xfrm>
          <a:prstGeom prst="rect">
            <a:avLst/>
          </a:prstGeom>
          <a:effectLst>
            <a:softEdge rad="0"/>
          </a:effectLst>
        </p:spPr>
      </p:pic>
      <p:pic>
        <p:nvPicPr>
          <p:cNvPr id="8" name="Picture 7">
            <a:extLst>
              <a:ext uri="{FF2B5EF4-FFF2-40B4-BE49-F238E27FC236}">
                <a16:creationId xmlns:a16="http://schemas.microsoft.com/office/drawing/2014/main" id="{A592298D-04C2-EBA6-8B7A-4710E2D793FF}"/>
              </a:ext>
            </a:extLst>
          </p:cNvPr>
          <p:cNvPicPr>
            <a:picLocks noChangeAspect="1"/>
          </p:cNvPicPr>
          <p:nvPr/>
        </p:nvPicPr>
        <p:blipFill>
          <a:blip r:embed="rId3"/>
          <a:stretch>
            <a:fillRect/>
          </a:stretch>
        </p:blipFill>
        <p:spPr>
          <a:xfrm>
            <a:off x="5744308" y="3961913"/>
            <a:ext cx="6290407" cy="2833564"/>
          </a:xfrm>
          <a:prstGeom prst="rect">
            <a:avLst/>
          </a:prstGeom>
        </p:spPr>
      </p:pic>
      <p:pic>
        <p:nvPicPr>
          <p:cNvPr id="10" name="Picture 9">
            <a:extLst>
              <a:ext uri="{FF2B5EF4-FFF2-40B4-BE49-F238E27FC236}">
                <a16:creationId xmlns:a16="http://schemas.microsoft.com/office/drawing/2014/main" id="{FCF46FF5-09B8-7F55-501F-C88791AB77CA}"/>
              </a:ext>
            </a:extLst>
          </p:cNvPr>
          <p:cNvPicPr>
            <a:picLocks noChangeAspect="1"/>
          </p:cNvPicPr>
          <p:nvPr/>
        </p:nvPicPr>
        <p:blipFill>
          <a:blip r:embed="rId4"/>
          <a:stretch>
            <a:fillRect/>
          </a:stretch>
        </p:blipFill>
        <p:spPr>
          <a:xfrm>
            <a:off x="117228" y="3961913"/>
            <a:ext cx="5569131" cy="2833563"/>
          </a:xfrm>
          <a:prstGeom prst="rect">
            <a:avLst/>
          </a:prstGeom>
        </p:spPr>
      </p:pic>
      <p:pic>
        <p:nvPicPr>
          <p:cNvPr id="13" name="Picture 12">
            <a:extLst>
              <a:ext uri="{FF2B5EF4-FFF2-40B4-BE49-F238E27FC236}">
                <a16:creationId xmlns:a16="http://schemas.microsoft.com/office/drawing/2014/main" id="{D90A2BD7-594D-7DD2-FF45-24F5ED92AE5F}"/>
              </a:ext>
            </a:extLst>
          </p:cNvPr>
          <p:cNvPicPr>
            <a:picLocks noChangeAspect="1"/>
          </p:cNvPicPr>
          <p:nvPr/>
        </p:nvPicPr>
        <p:blipFill>
          <a:blip r:embed="rId5"/>
          <a:srcRect l="5183" t="5965" r="7085" b="3333"/>
          <a:stretch>
            <a:fillRect/>
          </a:stretch>
        </p:blipFill>
        <p:spPr>
          <a:xfrm>
            <a:off x="5744308" y="1093177"/>
            <a:ext cx="6290406" cy="2833563"/>
          </a:xfrm>
          <a:prstGeom prst="rect">
            <a:avLst/>
          </a:prstGeom>
        </p:spPr>
      </p:pic>
    </p:spTree>
    <p:extLst>
      <p:ext uri="{BB962C8B-B14F-4D97-AF65-F5344CB8AC3E}">
        <p14:creationId xmlns:p14="http://schemas.microsoft.com/office/powerpoint/2010/main" val="32044392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39*217"/>
  <p:tag name="TABLE_ENDDRAG_RECT" val="160*200*639*217"/>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55*380"/>
  <p:tag name="TABLE_ENDDRAG_RECT" val="37*132*855*380"/>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55*380"/>
  <p:tag name="TABLE_ENDDRAG_RECT" val="37*132*855*38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TotalTime>
  <Words>1248</Words>
  <Application>Microsoft Office PowerPoint</Application>
  <PresentationFormat>Widescreen</PresentationFormat>
  <Paragraphs>195</Paragraphs>
  <Slides>15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Bookman Old Style</vt:lpstr>
      <vt:lpstr>Calibri</vt:lpstr>
      <vt:lpstr>Calibri Light</vt:lpstr>
      <vt:lpstr>Times New Roman</vt:lpstr>
      <vt:lpstr>Wingdings</vt:lpstr>
      <vt:lpstr>Office Theme</vt:lpstr>
      <vt:lpstr>Dealer Distributor System</vt:lpstr>
      <vt:lpstr>PowerPoint Presentation</vt:lpstr>
      <vt:lpstr> Introduction </vt:lpstr>
      <vt:lpstr>    Problem Statement</vt:lpstr>
      <vt:lpstr>Existing Websites</vt:lpstr>
      <vt:lpstr>Block Diagram</vt:lpstr>
      <vt:lpstr>Functional Requirements</vt:lpstr>
      <vt:lpstr>PowerPoint Presentation</vt:lpstr>
      <vt:lpstr>PowerPoint Presentation</vt:lpstr>
      <vt:lpstr>Non-Functional Requirements</vt:lpstr>
      <vt:lpstr>Scrum Roles </vt:lpstr>
      <vt:lpstr>Spring Planning and User Stories</vt:lpstr>
      <vt:lpstr>  Scrum Table</vt:lpstr>
      <vt:lpstr>    Sustainable Development Goals</vt:lpstr>
      <vt:lpstr>Home Page and Layout Designs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Shreya</dc:creator>
  <cp:lastModifiedBy>Bhagyashri Bhagwat</cp:lastModifiedBy>
  <cp:revision>16</cp:revision>
  <dcterms:created xsi:type="dcterms:W3CDTF">2025-07-23T00:59:00Z</dcterms:created>
  <dcterms:modified xsi:type="dcterms:W3CDTF">2026-04-22T08:19:45Z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A6591896E9A84E4EAC62A4E808E0C20E_11</vt:lpwstr>
  </property>
  <property fmtid="{D5CDD505-2E9C-101B-9397-08002B2CF9AE}" pid="3" name="KSOProductBuildVer">
    <vt:lpwstr>1033-12.2.0.23196</vt:lpwstr>
  </property>
</Properties>
</file>